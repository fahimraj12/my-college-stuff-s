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Roboto Condensed"/>
      <p:regular r:id="rId15"/>
      <p:bold r:id="rId16"/>
      <p:italic r:id="rId17"/>
      <p:boldItalic r:id="rId18"/>
    </p:embeddedFont>
    <p:embeddedFont>
      <p:font typeface="Roboto Condensed Light"/>
      <p:regular r:id="rId19"/>
      <p:bold r:id="rId20"/>
      <p:italic r:id="rId21"/>
      <p:boldItalic r:id="rId22"/>
    </p:embeddedFont>
    <p:embeddedFont>
      <p:font typeface="Noto Sans Symbols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8FSmR1f5rgMReSTncDKCt8SWT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CondensedLight-bold.fntdata"/><Relationship Id="rId22" Type="http://schemas.openxmlformats.org/officeDocument/2006/relationships/font" Target="fonts/RobotoCondensedLight-boldItalic.fntdata"/><Relationship Id="rId21" Type="http://schemas.openxmlformats.org/officeDocument/2006/relationships/font" Target="fonts/RobotoCondensedLight-italic.fntdata"/><Relationship Id="rId24" Type="http://schemas.openxmlformats.org/officeDocument/2006/relationships/font" Target="fonts/NotoSansSymbols-bold.fntdata"/><Relationship Id="rId23" Type="http://schemas.openxmlformats.org/officeDocument/2006/relationships/font" Target="fonts/NotoSansSymbol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Condensed-regular.fntdata"/><Relationship Id="rId14" Type="http://schemas.openxmlformats.org/officeDocument/2006/relationships/slide" Target="slides/slide9.xml"/><Relationship Id="rId17" Type="http://schemas.openxmlformats.org/officeDocument/2006/relationships/font" Target="fonts/RobotoCondensed-italic.fntdata"/><Relationship Id="rId16" Type="http://schemas.openxmlformats.org/officeDocument/2006/relationships/font" Target="fonts/RobotoCondensed-bold.fntdata"/><Relationship Id="rId19" Type="http://schemas.openxmlformats.org/officeDocument/2006/relationships/font" Target="fonts/RobotoCondensedLight-regular.fntdata"/><Relationship Id="rId18" Type="http://schemas.openxmlformats.org/officeDocument/2006/relationships/font" Target="fonts/RobotoCondense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10" Type="http://schemas.openxmlformats.org/officeDocument/2006/relationships/image" Target="../media/image21.png"/><Relationship Id="rId9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19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10" Type="http://schemas.openxmlformats.org/officeDocument/2006/relationships/image" Target="../media/image4.png"/><Relationship Id="rId9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14.png"/><Relationship Id="rId8" Type="http://schemas.openxmlformats.org/officeDocument/2006/relationships/image" Target="../media/image19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ed" showMasterSp="0">
  <p:cSld name="Title Slide - Red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1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8" name="Google Shape;18;p11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" name="Google Shape;19;p11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0" name="Google Shape;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" name="Google Shape;22;p11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1B1C"/>
              </a:buClr>
              <a:buSzPts val="1800"/>
              <a:buNone/>
              <a:defRPr b="1" sz="1800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9" name="Google Shape;2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1"/>
          <p:cNvPicPr preferRelativeResize="0"/>
          <p:nvPr/>
        </p:nvPicPr>
        <p:blipFill rotWithShape="1">
          <a:blip r:embed="rId7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1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2" name="Google Shape;32;p11"/>
          <p:cNvPicPr preferRelativeResize="0"/>
          <p:nvPr/>
        </p:nvPicPr>
        <p:blipFill rotWithShape="1">
          <a:blip r:embed="rId8">
            <a:alphaModFix/>
          </a:blip>
          <a:srcRect b="18186" l="24746" r="25760" t="7575"/>
          <a:stretch/>
        </p:blipFill>
        <p:spPr>
          <a:xfrm>
            <a:off x="356499" y="5214354"/>
            <a:ext cx="1354234" cy="1354234"/>
          </a:xfrm>
          <a:custGeom>
            <a:rect b="b" l="l" r="r" t="t"/>
            <a:pathLst>
              <a:path extrusionOk="0" h="4572000" w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User icon Royalty Free Vector Image - VectorStock" id="33" name="Google Shape;33;p11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" name="Google Shape;34;p11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35" name="Google Shape;35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18716" y="1437107"/>
            <a:ext cx="4654222" cy="3011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Logo on BL" showMasterSp="0">
  <p:cSld name="Title and Content - Logo on BL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12"/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38" name="Google Shape;38;p1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" name="Google Shape;39;p12"/>
            <p:cNvSpPr/>
            <p:nvPr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40" name="Google Shape;40;p12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" name="Google Shape;41;p12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Pradyumansinh U. Jadeja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42" name="Google Shape;42;p12"/>
          <p:cNvSpPr txBox="1"/>
          <p:nvPr/>
        </p:nvSpPr>
        <p:spPr>
          <a:xfrm>
            <a:off x="3889829" y="6603999"/>
            <a:ext cx="4920342" cy="254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#3150711 (SE)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Introduction to Software &amp; Software Engineering</a:t>
            </a:r>
            <a:endParaRPr/>
          </a:p>
        </p:txBody>
      </p:sp>
      <p:sp>
        <p:nvSpPr>
          <p:cNvPr id="43" name="Google Shape;43;p12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b="1" sz="1200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44" name="Google Shape;44;p12"/>
          <p:cNvPicPr preferRelativeResize="0"/>
          <p:nvPr/>
        </p:nvPicPr>
        <p:blipFill rotWithShape="1">
          <a:blip r:embed="rId3">
            <a:alphaModFix/>
          </a:blip>
          <a:srcRect b="3534" l="0" r="1768" t="86739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2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b="1" sz="34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indent="-355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302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7" name="Google Shape;47;p12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" name="Google Shape;48;p12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Logo on BR" showMasterSp="0">
  <p:cSld name="Title and Content - Logo on B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3"/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51" name="Google Shape;51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Google Shape;52;p13"/>
            <p:cNvSpPr/>
            <p:nvPr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53" name="Google Shape;53;p13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Pradyumansinh U. Jadeja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889829" y="6604000"/>
            <a:ext cx="4920341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#3150711 (SE)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5 – Software Design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b="1" sz="1200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 b="3534" l="0" r="1768" t="86739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b="1" sz="34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indent="-355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302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0" name="Google Shape;60;p13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" name="Google Shape;61;p13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Logo on TR" showMasterSp="0">
  <p:cSld name="Title and Content - Logo on T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4"/>
          <p:cNvGrpSpPr/>
          <p:nvPr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64" name="Google Shape;64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4"/>
            <p:cNvSpPr/>
            <p:nvPr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66" name="Google Shape;66;p14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Pradyumansinh U. Jadeja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386138" y="6603999"/>
            <a:ext cx="5224460" cy="323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#3150711 (SE)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Introduction to Software &amp; Software Engineering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b="1" sz="1200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3">
            <a:alphaModFix/>
          </a:blip>
          <a:srcRect b="3534" l="0" r="1768" t="86739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  <a:defRPr b="1" sz="34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  <a:defRPr sz="2400">
                <a:solidFill>
                  <a:schemeClr val="dk1"/>
                </a:solidFill>
              </a:defRPr>
            </a:lvl1pPr>
            <a:lvl2pPr indent="-3556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indent="-3429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indent="-3302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3" name="Google Shape;73;p14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" name="Google Shape;74;p14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efault Color" showMasterSp="0">
  <p:cSld name="Title Slide - Default Colo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dk2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dk2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15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" name="Google Shape;83;p15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4" name="Google Shape;8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1800"/>
              <a:buNone/>
              <a:defRPr b="1" sz="1800">
                <a:solidFill>
                  <a:srgbClr val="1D306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0" name="Google Shape;9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3" name="Google Shape;93;p15"/>
          <p:cNvPicPr preferRelativeResize="0"/>
          <p:nvPr/>
        </p:nvPicPr>
        <p:blipFill rotWithShape="1">
          <a:blip r:embed="rId9">
            <a:alphaModFix/>
          </a:blip>
          <a:srcRect b="22103" l="144383" r="-144383" t="-16142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icon Royalty Free Vector Image - VectorStock" id="94" name="Google Shape;94;p15"/>
          <p:cNvPicPr preferRelativeResize="0"/>
          <p:nvPr/>
        </p:nvPicPr>
        <p:blipFill rotWithShape="1">
          <a:blip r:embed="rId10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15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6"/>
          <p:cNvPicPr preferRelativeResize="0"/>
          <p:nvPr/>
        </p:nvPicPr>
        <p:blipFill rotWithShape="1">
          <a:blip r:embed="rId2">
            <a:alphaModFix/>
          </a:blip>
          <a:srcRect b="21179" l="0" r="11581" t="0"/>
          <a:stretch/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 rotWithShape="1">
          <a:blip r:embed="rId3">
            <a:alphaModFix/>
          </a:blip>
          <a:srcRect b="17724" l="79646" r="2730" t="18062"/>
          <a:stretch/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  <a:defRPr b="1" sz="6000">
                <a:solidFill>
                  <a:srgbClr val="1D3064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/>
        </p:txBody>
      </p:sp>
      <p:sp>
        <p:nvSpPr>
          <p:cNvPr id="101" name="Google Shape;101;p16"/>
          <p:cNvSpPr/>
          <p:nvPr/>
        </p:nvSpPr>
        <p:spPr>
          <a:xfrm>
            <a:off x="0" y="5905332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dk2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102" name="Google Shape;102;p16"/>
          <p:cNvGrpSpPr/>
          <p:nvPr/>
        </p:nvGrpSpPr>
        <p:grpSpPr>
          <a:xfrm>
            <a:off x="9437223" y="6087939"/>
            <a:ext cx="2554143" cy="587454"/>
            <a:chOff x="131177" y="5775962"/>
            <a:chExt cx="2530239" cy="581956"/>
          </a:xfrm>
        </p:grpSpPr>
        <p:pic>
          <p:nvPicPr>
            <p:cNvPr id="103" name="Google Shape;103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16"/>
            <p:cNvSpPr/>
            <p:nvPr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k - Logo on TR" showMasterSp="0">
  <p:cSld name="Blanck - Logo on T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Pradyumansinh U. Jadeja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3904343" y="6604000"/>
            <a:ext cx="4833257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#3150711 (SE)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Introduction to Software &amp; Software Engineering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b="1" sz="1200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10" name="Google Shape;110;p17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1" name="Google Shape;111;p17"/>
          <p:cNvGrpSpPr/>
          <p:nvPr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12" name="Google Shape;112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7"/>
            <p:cNvSpPr/>
            <p:nvPr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k - Logo on BR" showMasterSp="0">
  <p:cSld name="Blanck - Logo on B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Pradyumansinh U. Jadeja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3846286" y="6604000"/>
            <a:ext cx="47643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#3150711 (SE)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Introduction to Software &amp; Software Engineering</a:t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b="1" sz="1200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19" name="Google Shape;119;p1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0" name="Google Shape;120;p18"/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1" name="Google Shape;121;p1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8"/>
            <p:cNvSpPr/>
            <p:nvPr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k - Logo on BL" showMasterSp="0">
  <p:cSld name="Blanck - Logo on BL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fmla="val 0" name="adj"/>
            </a:avLst>
          </a:prstGeom>
          <a:solidFill>
            <a:srgbClr val="DFD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Pradyumansinh U. Jadeja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3788229" y="6603999"/>
            <a:ext cx="4822369" cy="298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#3150711 (SE)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Introduction to Software &amp; Software Engineering</a:t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  <a:endParaRPr b="1" sz="1200">
              <a:solidFill>
                <a:srgbClr val="36363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128" name="Google Shape;128;p19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BFBFB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9" name="Google Shape;129;p19"/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30" name="Google Shape;130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19"/>
            <p:cNvSpPr/>
            <p:nvPr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lete Blanck" showMasterSp="0">
  <p:cSld name="Complete Blanc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lete Blanck" showMasterSp="0">
  <p:cSld name="1_Complete Blanck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 to Crop Circular Photo?</a:t>
            </a:r>
            <a:endParaRPr/>
          </a:p>
        </p:txBody>
      </p:sp>
      <p:sp>
        <p:nvSpPr>
          <p:cNvPr id="135" name="Google Shape;135;p21"/>
          <p:cNvSpPr/>
          <p:nvPr>
            <p:ph idx="2" type="pic"/>
          </p:nvPr>
        </p:nvSpPr>
        <p:spPr>
          <a:xfrm>
            <a:off x="4013200" y="1808163"/>
            <a:ext cx="3890962" cy="389096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Teal" showMasterSp="0">
  <p:cSld name="Title Slide - Teal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2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39" name="Google Shape;139;p22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E4D3B"/>
              </a:gs>
              <a:gs pos="10000">
                <a:srgbClr val="0E4D3B"/>
              </a:gs>
              <a:gs pos="100000">
                <a:srgbClr val="009788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D3B"/>
              </a:gs>
              <a:gs pos="10000">
                <a:srgbClr val="0E4D3B"/>
              </a:gs>
              <a:gs pos="100000">
                <a:srgbClr val="009788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22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22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4D3B"/>
              </a:buClr>
              <a:buSzPts val="1800"/>
              <a:buNone/>
              <a:defRPr b="1" sz="1800">
                <a:solidFill>
                  <a:srgbClr val="0E4D3B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1" name="Google Shape;15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154" name="Google Shape;154;p22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5" name="Google Shape;155;p22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Cyan" showMasterSp="0">
  <p:cSld name="Title Slide - Cyan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3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59" name="Google Shape;159;p23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05D69"/>
              </a:gs>
              <a:gs pos="10000">
                <a:srgbClr val="005D69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0" name="Google Shape;160;p23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05D69"/>
              </a:gs>
              <a:gs pos="10000">
                <a:srgbClr val="005D69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23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4" name="Google Shape;164;p23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5" name="Google Shape;16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3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3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D69"/>
              </a:buClr>
              <a:buSzPts val="1800"/>
              <a:buNone/>
              <a:defRPr b="1" sz="1800">
                <a:solidFill>
                  <a:srgbClr val="005D6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1" name="Google Shape;17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174" name="Google Shape;174;p23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" name="Google Shape;175;p23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Light Green" showMasterSp="0">
  <p:cSld name="Title Slide - Light Green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4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79" name="Google Shape;179;p24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456220"/>
              </a:gs>
              <a:gs pos="10000">
                <a:srgbClr val="456220"/>
              </a:gs>
              <a:gs pos="100000">
                <a:schemeClr val="accent3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456220"/>
              </a:gs>
              <a:gs pos="10000">
                <a:srgbClr val="456220"/>
              </a:gs>
              <a:gs pos="100000">
                <a:schemeClr val="accent3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181" name="Google Shape;1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4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p24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5" name="Google Shape;18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24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24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56220"/>
              </a:buClr>
              <a:buSzPts val="1800"/>
              <a:buNone/>
              <a:defRPr b="1" sz="1800">
                <a:solidFill>
                  <a:srgbClr val="456220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1" name="Google Shape;19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194" name="Google Shape;194;p24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p24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mber" showMasterSp="0">
  <p:cSld name="Title Slide - Amber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5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5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199" name="Google Shape;199;p25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7D4F07"/>
              </a:gs>
              <a:gs pos="10000">
                <a:srgbClr val="7D4F07"/>
              </a:gs>
              <a:gs pos="100000">
                <a:schemeClr val="accent5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7D4F07"/>
              </a:gs>
              <a:gs pos="10000">
                <a:srgbClr val="7D4F07"/>
              </a:gs>
              <a:gs pos="100000">
                <a:schemeClr val="accent5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01" name="Google Shape;2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5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p25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5" name="Google Shape;20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25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25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25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C770B"/>
              </a:buClr>
              <a:buSzPts val="1800"/>
              <a:buNone/>
              <a:defRPr b="1" sz="1800">
                <a:solidFill>
                  <a:srgbClr val="BC770B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1" name="Google Shape;211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5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214" name="Google Shape;214;p25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5" name="Google Shape;215;p25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Maroon" showMasterSp="0">
  <p:cSld name="Title Slide - Maroon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6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6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19" name="Google Shape;219;p26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5C2321"/>
              </a:gs>
              <a:gs pos="10000">
                <a:srgbClr val="5C2321"/>
              </a:gs>
              <a:gs pos="100000">
                <a:schemeClr val="accent6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21" name="Google Shape;2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26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4" name="Google Shape;224;p26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5" name="Google Shape;22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26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26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26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2321"/>
              </a:buClr>
              <a:buSzPts val="1800"/>
              <a:buNone/>
              <a:defRPr b="1" sz="1800">
                <a:solidFill>
                  <a:srgbClr val="5C232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31" name="Google Shape;231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6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234" name="Google Shape;234;p26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5" name="Google Shape;235;p26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Blue Gray" showMasterSp="0">
  <p:cSld name="Title Slide - Blue Gra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7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7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39" name="Google Shape;239;p27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273238"/>
              </a:gs>
              <a:gs pos="10000">
                <a:srgbClr val="273238"/>
              </a:gs>
              <a:gs pos="100000">
                <a:srgbClr val="607D8B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273238"/>
              </a:gs>
              <a:gs pos="10000">
                <a:srgbClr val="273238"/>
              </a:gs>
              <a:gs pos="100000">
                <a:srgbClr val="607D8B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41" name="Google Shape;24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3" name="Google Shape;243;p27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4" name="Google Shape;244;p27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45" name="Google Shape;24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7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p27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27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8"/>
              </a:buClr>
              <a:buSzPts val="1800"/>
              <a:buNone/>
              <a:defRPr b="1" sz="1800">
                <a:solidFill>
                  <a:srgbClr val="273238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7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7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254" name="Google Shape;254;p27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5" name="Google Shape;255;p27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Brown" showMasterSp="0">
  <p:cSld name="Title Slide - Brown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8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8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59" name="Google Shape;259;p28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3E2622"/>
              </a:gs>
              <a:gs pos="10000">
                <a:srgbClr val="3E2622"/>
              </a:gs>
              <a:gs pos="100000">
                <a:srgbClr val="795547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3E2622"/>
              </a:gs>
              <a:gs pos="10000">
                <a:srgbClr val="3E2622"/>
              </a:gs>
              <a:gs pos="100000">
                <a:srgbClr val="795547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61" name="Google Shape;2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28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4" name="Google Shape;264;p28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5" name="Google Shape;26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8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9" name="Google Shape;269;p28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0" name="Google Shape;270;p28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2622"/>
              </a:buClr>
              <a:buSzPts val="1800"/>
              <a:buNone/>
              <a:defRPr b="1" sz="1800">
                <a:solidFill>
                  <a:srgbClr val="3E262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1" name="Google Shape;27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8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8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274" name="Google Shape;274;p28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5" name="Google Shape;275;p28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eep Puple" showMasterSp="0">
  <p:cSld name="Title Slide - Deep Puple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79" name="Google Shape;279;p29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301B92"/>
              </a:gs>
              <a:gs pos="10000">
                <a:srgbClr val="301B92"/>
              </a:gs>
              <a:gs pos="100000">
                <a:srgbClr val="673BB7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0" name="Google Shape;280;p29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301B92"/>
              </a:gs>
              <a:gs pos="10000">
                <a:srgbClr val="301B92"/>
              </a:gs>
              <a:gs pos="100000">
                <a:srgbClr val="673BB7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81" name="Google Shape;2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p29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4" name="Google Shape;284;p29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85" name="Google Shape;28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9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8" name="Google Shape;288;p29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9" name="Google Shape;289;p29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0" name="Google Shape;290;p29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01B92"/>
              </a:buClr>
              <a:buSzPts val="1800"/>
              <a:buNone/>
              <a:defRPr b="1" sz="1800">
                <a:solidFill>
                  <a:srgbClr val="301B92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91" name="Google Shape;291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9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294" name="Google Shape;294;p29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5" name="Google Shape;295;p29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Blue" showMasterSp="0">
  <p:cSld name="Title Slide - Blue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30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0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299" name="Google Shape;299;p30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E47A1"/>
              </a:gs>
              <a:gs pos="10000">
                <a:srgbClr val="0E47A1"/>
              </a:gs>
              <a:gs pos="100000">
                <a:srgbClr val="03A9F5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00" name="Google Shape;300;p30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">
                <a:srgbClr val="0E47A1"/>
              </a:gs>
              <a:gs pos="100000">
                <a:srgbClr val="03A9F5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01" name="Google Shape;3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p30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4" name="Google Shape;304;p30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5" name="Google Shape;30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8" name="Google Shape;308;p30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9" name="Google Shape;309;p30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0" name="Google Shape;310;p30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47A1"/>
              </a:buClr>
              <a:buSzPts val="1800"/>
              <a:buNone/>
              <a:defRPr b="1" sz="1800">
                <a:solidFill>
                  <a:srgbClr val="0E47A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11" name="Google Shape;311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0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0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314" name="Google Shape;314;p30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5" name="Google Shape;315;p30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- Red" showMasterSp="0">
  <p:cSld name="1_Title Slide - Red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31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1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1"/>
          <p:cNvPicPr preferRelativeResize="0"/>
          <p:nvPr/>
        </p:nvPicPr>
        <p:blipFill rotWithShape="1">
          <a:blip r:embed="rId5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3" name="Google Shape;323;p31"/>
          <p:cNvSpPr/>
          <p:nvPr/>
        </p:nvSpPr>
        <p:spPr>
          <a:xfrm rot="5400000">
            <a:off x="4309292" y="1717040"/>
            <a:ext cx="3461658" cy="2984188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F2F2F2"/>
          </a:solidFill>
          <a:ln cap="flat" cmpd="sng" w="57150">
            <a:solidFill>
              <a:schemeClr val="accent6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</a:t>
            </a:r>
            <a:endParaRPr/>
          </a:p>
        </p:txBody>
      </p:sp>
      <p:sp>
        <p:nvSpPr>
          <p:cNvPr id="325" name="Google Shape;325;p31"/>
          <p:cNvSpPr/>
          <p:nvPr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86333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86333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7" name="Google Shape;327;p31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328" name="Google Shape;328;p31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29" name="Google Shape;329;p31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30" name="Google Shape;33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>
            <p:ph idx="2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3" name="Google Shape;333;p31"/>
          <p:cNvSpPr txBox="1"/>
          <p:nvPr>
            <p:ph idx="3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4" name="Google Shape;334;p31"/>
          <p:cNvSpPr txBox="1"/>
          <p:nvPr>
            <p:ph idx="4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5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71B1C"/>
              </a:buClr>
              <a:buSzPts val="1800"/>
              <a:buNone/>
              <a:defRPr b="1" sz="1800">
                <a:solidFill>
                  <a:srgbClr val="B71B1C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36" name="Google Shape;336;p31"/>
          <p:cNvPicPr preferRelativeResize="0"/>
          <p:nvPr/>
        </p:nvPicPr>
        <p:blipFill rotWithShape="1">
          <a:blip r:embed="rId8">
            <a:alphaModFix/>
          </a:blip>
          <a:srcRect b="18186" l="24746" r="25760" t="7575"/>
          <a:stretch/>
        </p:blipFill>
        <p:spPr>
          <a:xfrm>
            <a:off x="356499" y="5214354"/>
            <a:ext cx="1354234" cy="1354234"/>
          </a:xfrm>
          <a:custGeom>
            <a:rect b="b" l="l" r="r" t="t"/>
            <a:pathLst>
              <a:path extrusionOk="0" h="4572000" w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User icon Royalty Free Vector Image - VectorStock" id="337" name="Google Shape;337;p31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8" name="Google Shape;338;p31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Pink" showMasterSp="0">
  <p:cSld name="Title Slide - Pink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2"/>
          <p:cNvPicPr preferRelativeResize="0"/>
          <p:nvPr/>
        </p:nvPicPr>
        <p:blipFill rotWithShape="1">
          <a:blip r:embed="rId2">
            <a:alphaModFix/>
          </a:blip>
          <a:srcRect b="24999" l="0" r="0" t="1875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2"/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Darshan Institute of Engineering &amp; Technology, Rajkot</a:t>
            </a:r>
            <a:endParaRPr/>
          </a:p>
        </p:txBody>
      </p:sp>
      <p:sp>
        <p:nvSpPr>
          <p:cNvPr id="342" name="Google Shape;342;p32"/>
          <p:cNvSpPr/>
          <p:nvPr/>
        </p:nvSpPr>
        <p:spPr>
          <a:xfrm>
            <a:off x="2554514" y="1"/>
            <a:ext cx="5255702" cy="1335004"/>
          </a:xfrm>
          <a:custGeom>
            <a:rect b="b" l="l" r="r" t="t"/>
            <a:pathLst>
              <a:path extrusionOk="0" h="517" w="2048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890E4F"/>
              </a:gs>
              <a:gs pos="10000">
                <a:srgbClr val="890E4F"/>
              </a:gs>
              <a:gs pos="100000">
                <a:srgbClr val="D81A60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3" name="Google Shape;343;p32"/>
          <p:cNvSpPr/>
          <p:nvPr/>
        </p:nvSpPr>
        <p:spPr>
          <a:xfrm>
            <a:off x="0" y="5905331"/>
            <a:ext cx="1901425" cy="952668"/>
          </a:xfrm>
          <a:custGeom>
            <a:rect b="b" l="l" r="r" t="t"/>
            <a:pathLst>
              <a:path extrusionOk="0" h="1024" w="2048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890E4F"/>
              </a:gs>
              <a:gs pos="10000">
                <a:srgbClr val="890E4F"/>
              </a:gs>
              <a:gs pos="100000">
                <a:srgbClr val="D81A60"/>
              </a:gs>
            </a:gsLst>
            <a:lin ang="108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44" name="Google Shape;34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8334" y="4602222"/>
            <a:ext cx="3383666" cy="2255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0861" y="2096941"/>
            <a:ext cx="2813885" cy="2119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6" name="Google Shape;346;p32"/>
          <p:cNvCxnSpPr/>
          <p:nvPr/>
        </p:nvCxnSpPr>
        <p:spPr>
          <a:xfrm>
            <a:off x="1926694" y="6124097"/>
            <a:ext cx="4356000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7" name="Google Shape;347;p32"/>
          <p:cNvSpPr txBox="1"/>
          <p:nvPr>
            <p:ph type="ctrTitle"/>
          </p:nvPr>
        </p:nvSpPr>
        <p:spPr>
          <a:xfrm>
            <a:off x="559490" y="1122364"/>
            <a:ext cx="7035300" cy="257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600"/>
              <a:buFont typeface="Roboto Condensed"/>
              <a:buNone/>
              <a:defRPr b="1" sz="6600">
                <a:solidFill>
                  <a:srgbClr val="36363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48" name="Google Shape;34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8063" y="6232297"/>
            <a:ext cx="182880" cy="18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8063" y="650532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2"/>
          <p:cNvSpPr txBox="1"/>
          <p:nvPr>
            <p:ph idx="1" type="body"/>
          </p:nvPr>
        </p:nvSpPr>
        <p:spPr>
          <a:xfrm>
            <a:off x="2180943" y="6175935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1" name="Google Shape;351;p32"/>
          <p:cNvSpPr txBox="1"/>
          <p:nvPr>
            <p:ph idx="2" type="body"/>
          </p:nvPr>
        </p:nvSpPr>
        <p:spPr>
          <a:xfrm>
            <a:off x="2183874" y="646021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2" name="Google Shape;352;p32"/>
          <p:cNvSpPr txBox="1"/>
          <p:nvPr>
            <p:ph idx="3" type="body"/>
          </p:nvPr>
        </p:nvSpPr>
        <p:spPr>
          <a:xfrm>
            <a:off x="1837678" y="5537768"/>
            <a:ext cx="3735998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3" name="Google Shape;353;p32"/>
          <p:cNvSpPr txBox="1"/>
          <p:nvPr>
            <p:ph idx="4" type="body"/>
          </p:nvPr>
        </p:nvSpPr>
        <p:spPr>
          <a:xfrm>
            <a:off x="1837677" y="5273332"/>
            <a:ext cx="5581039" cy="29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90E4F"/>
              </a:buClr>
              <a:buSzPts val="1800"/>
              <a:buNone/>
              <a:defRPr b="1" sz="1800">
                <a:solidFill>
                  <a:srgbClr val="890E4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54" name="Google Shape;354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5842" y="307556"/>
            <a:ext cx="3573889" cy="82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2"/>
          <p:cNvPicPr preferRelativeResize="0"/>
          <p:nvPr/>
        </p:nvPicPr>
        <p:blipFill rotWithShape="1">
          <a:blip r:embed="rId8">
            <a:alphaModFix/>
          </a:blip>
          <a:srcRect b="17724" l="62022" r="2731" t="18062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2"/>
          <p:cNvSpPr txBox="1"/>
          <p:nvPr>
            <p:ph idx="5" type="body"/>
          </p:nvPr>
        </p:nvSpPr>
        <p:spPr>
          <a:xfrm>
            <a:off x="2581756" y="20384"/>
            <a:ext cx="4646358" cy="7346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User icon Royalty Free Vector Image - VectorStock" id="357" name="Google Shape;357;p32"/>
          <p:cNvPicPr preferRelativeResize="0"/>
          <p:nvPr/>
        </p:nvPicPr>
        <p:blipFill rotWithShape="1">
          <a:blip r:embed="rId9">
            <a:alphaModFix/>
          </a:blip>
          <a:srcRect b="34222" l="26030" r="26030" t="21389"/>
          <a:stretch/>
        </p:blipFill>
        <p:spPr>
          <a:xfrm>
            <a:off x="353568" y="5211250"/>
            <a:ext cx="1353600" cy="1353600"/>
          </a:xfrm>
          <a:custGeom>
            <a:rect b="b" l="l" r="r" t="t"/>
            <a:pathLst>
              <a:path extrusionOk="0" h="3044190" w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8" name="Google Shape;358;p32"/>
          <p:cNvSpPr/>
          <p:nvPr>
            <p:ph idx="6" type="pic"/>
          </p:nvPr>
        </p:nvSpPr>
        <p:spPr>
          <a:xfrm>
            <a:off x="353569" y="5211251"/>
            <a:ext cx="1353599" cy="1353599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2"/>
            </a:gs>
            <a:gs pos="50000">
              <a:srgbClr val="FAFAFA"/>
            </a:gs>
            <a:gs pos="100000">
              <a:srgbClr val="CECECE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Condensed"/>
              <a:buNone/>
              <a:defRPr b="0" i="0" sz="44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A8A8A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jpg"/><Relationship Id="rId4" Type="http://schemas.openxmlformats.org/officeDocument/2006/relationships/image" Target="../media/image32.png"/><Relationship Id="rId5" Type="http://schemas.openxmlformats.org/officeDocument/2006/relationships/image" Target="../media/image35.jpg"/><Relationship Id="rId6" Type="http://schemas.openxmlformats.org/officeDocument/2006/relationships/image" Target="../media/image26.jpg"/><Relationship Id="rId7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37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24.png"/><Relationship Id="rId8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"/>
          <p:cNvSpPr txBox="1"/>
          <p:nvPr>
            <p:ph type="ctrTitle"/>
          </p:nvPr>
        </p:nvSpPr>
        <p:spPr>
          <a:xfrm>
            <a:off x="559489" y="1122364"/>
            <a:ext cx="8346000" cy="25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6000"/>
              <a:buFont typeface="Roboto Condensed Light"/>
              <a:buNone/>
            </a:pPr>
            <a:r>
              <a:rPr b="0" lang="en-US" sz="60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Unit-5</a:t>
            </a:r>
            <a:r>
              <a:rPr lang="en-US"/>
              <a:t> </a:t>
            </a:r>
            <a:br>
              <a:rPr lang="en-US"/>
            </a:br>
            <a:r>
              <a:rPr lang="en-US"/>
              <a:t>User Interface Design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User Interface Design</a:t>
            </a:r>
            <a:endParaRPr/>
          </a:p>
        </p:txBody>
      </p:sp>
      <p:sp>
        <p:nvSpPr>
          <p:cNvPr id="369" name="Google Shape;369;p2"/>
          <p:cNvSpPr/>
          <p:nvPr/>
        </p:nvSpPr>
        <p:spPr>
          <a:xfrm>
            <a:off x="-1" y="711201"/>
            <a:ext cx="12191999" cy="523220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86333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Concept of User Interface Design</a:t>
            </a:r>
            <a:endParaRPr b="1" sz="36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70" name="Google Shape;370;p2"/>
          <p:cNvSpPr/>
          <p:nvPr/>
        </p:nvSpPr>
        <p:spPr>
          <a:xfrm>
            <a:off x="409433" y="1745566"/>
            <a:ext cx="1117751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Designing the part of software/system that users directly interact with.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Make interaction simple, clear, and attractive.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Elements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Buttons, menus, icons, text boxes, forms.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Areas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Layout, colors, typography, navigation flow.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Easy to use, reduces confusion, saves time for users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User Interface Design</a:t>
            </a:r>
            <a:endParaRPr/>
          </a:p>
        </p:txBody>
      </p:sp>
      <p:sp>
        <p:nvSpPr>
          <p:cNvPr id="376" name="Google Shape;376;p3"/>
          <p:cNvSpPr/>
          <p:nvPr/>
        </p:nvSpPr>
        <p:spPr>
          <a:xfrm>
            <a:off x="2921000" y="727021"/>
            <a:ext cx="9271000" cy="46166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86333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Golden Rules of User Interface Design</a:t>
            </a:r>
            <a:endParaRPr/>
          </a:p>
        </p:txBody>
      </p:sp>
      <p:cxnSp>
        <p:nvCxnSpPr>
          <p:cNvPr id="377" name="Google Shape;377;p3"/>
          <p:cNvCxnSpPr/>
          <p:nvPr/>
        </p:nvCxnSpPr>
        <p:spPr>
          <a:xfrm>
            <a:off x="2921000" y="711201"/>
            <a:ext cx="0" cy="589279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78" name="Google Shape;3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349" y="857646"/>
            <a:ext cx="2538697" cy="2538697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803"/>
              </a:srgbClr>
            </a:outerShdw>
          </a:effectLst>
        </p:spPr>
      </p:pic>
      <p:pic>
        <p:nvPicPr>
          <p:cNvPr id="379" name="Google Shape;37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291" y="3870205"/>
            <a:ext cx="2246811" cy="1891712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"/>
          <p:cNvSpPr/>
          <p:nvPr/>
        </p:nvSpPr>
        <p:spPr>
          <a:xfrm>
            <a:off x="7016779" y="1759905"/>
            <a:ext cx="4838700" cy="235573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1" name="Google Shape;381;p3"/>
          <p:cNvSpPr/>
          <p:nvPr/>
        </p:nvSpPr>
        <p:spPr>
          <a:xfrm>
            <a:off x="3359179" y="1751070"/>
            <a:ext cx="3657600" cy="236456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382" name="Google Shape;382;p3"/>
          <p:cNvPicPr preferRelativeResize="0"/>
          <p:nvPr/>
        </p:nvPicPr>
        <p:blipFill rotWithShape="1">
          <a:blip r:embed="rId5">
            <a:alphaModFix/>
          </a:blip>
          <a:srcRect b="0" l="0" r="16231" t="0"/>
          <a:stretch/>
        </p:blipFill>
        <p:spPr>
          <a:xfrm>
            <a:off x="8388643" y="1859292"/>
            <a:ext cx="1828535" cy="2182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"/>
          <p:cNvPicPr preferRelativeResize="0"/>
          <p:nvPr/>
        </p:nvPicPr>
        <p:blipFill rotWithShape="1">
          <a:blip r:embed="rId6">
            <a:alphaModFix/>
          </a:blip>
          <a:srcRect b="10180" l="0" r="0" t="0"/>
          <a:stretch/>
        </p:blipFill>
        <p:spPr>
          <a:xfrm>
            <a:off x="4064029" y="1825174"/>
            <a:ext cx="2247900" cy="2096069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"/>
          <p:cNvSpPr txBox="1"/>
          <p:nvPr/>
        </p:nvSpPr>
        <p:spPr>
          <a:xfrm>
            <a:off x="3359179" y="1291774"/>
            <a:ext cx="3657600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the User in Control</a:t>
            </a:r>
            <a:endParaRPr/>
          </a:p>
        </p:txBody>
      </p:sp>
      <p:sp>
        <p:nvSpPr>
          <p:cNvPr id="385" name="Google Shape;385;p3"/>
          <p:cNvSpPr txBox="1"/>
          <p:nvPr/>
        </p:nvSpPr>
        <p:spPr>
          <a:xfrm>
            <a:off x="7016779" y="1291773"/>
            <a:ext cx="4838700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Reduce the User’s Memory Load</a:t>
            </a:r>
            <a:endParaRPr/>
          </a:p>
        </p:txBody>
      </p:sp>
      <p:sp>
        <p:nvSpPr>
          <p:cNvPr id="386" name="Google Shape;386;p3"/>
          <p:cNvSpPr/>
          <p:nvPr/>
        </p:nvSpPr>
        <p:spPr>
          <a:xfrm>
            <a:off x="3359179" y="4572839"/>
            <a:ext cx="8496300" cy="190053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7" name="Google Shape;387;p3"/>
          <p:cNvSpPr txBox="1"/>
          <p:nvPr/>
        </p:nvSpPr>
        <p:spPr>
          <a:xfrm>
            <a:off x="3359179" y="4111174"/>
            <a:ext cx="8496300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Make the Interface Consistent</a:t>
            </a:r>
            <a:endParaRPr/>
          </a:p>
        </p:txBody>
      </p:sp>
      <p:pic>
        <p:nvPicPr>
          <p:cNvPr id="388" name="Google Shape;388;p3"/>
          <p:cNvPicPr preferRelativeResize="0"/>
          <p:nvPr/>
        </p:nvPicPr>
        <p:blipFill rotWithShape="1">
          <a:blip r:embed="rId7">
            <a:alphaModFix/>
          </a:blip>
          <a:srcRect b="3656" l="0" r="0" t="34234"/>
          <a:stretch/>
        </p:blipFill>
        <p:spPr>
          <a:xfrm>
            <a:off x="8007380" y="4641868"/>
            <a:ext cx="3276600" cy="1800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"/>
          <p:cNvPicPr preferRelativeResize="0"/>
          <p:nvPr/>
        </p:nvPicPr>
        <p:blipFill rotWithShape="1">
          <a:blip r:embed="rId7">
            <a:alphaModFix/>
          </a:blip>
          <a:srcRect b="66103" l="7675" r="0" t="0"/>
          <a:stretch/>
        </p:blipFill>
        <p:spPr>
          <a:xfrm>
            <a:off x="3574933" y="4847250"/>
            <a:ext cx="4278671" cy="1390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Golden Rules of User Interface Design Cont.</a:t>
            </a:r>
            <a:endParaRPr/>
          </a:p>
        </p:txBody>
      </p:sp>
      <p:sp>
        <p:nvSpPr>
          <p:cNvPr id="395" name="Google Shape;395;p4"/>
          <p:cNvSpPr/>
          <p:nvPr/>
        </p:nvSpPr>
        <p:spPr>
          <a:xfrm>
            <a:off x="190499" y="859972"/>
            <a:ext cx="4134758" cy="46166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86333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the User in Control</a:t>
            </a:r>
            <a:endParaRPr/>
          </a:p>
        </p:txBody>
      </p:sp>
      <p:cxnSp>
        <p:nvCxnSpPr>
          <p:cNvPr id="396" name="Google Shape;396;p4"/>
          <p:cNvCxnSpPr/>
          <p:nvPr/>
        </p:nvCxnSpPr>
        <p:spPr>
          <a:xfrm>
            <a:off x="2330426" y="1321637"/>
            <a:ext cx="9439208" cy="0"/>
          </a:xfrm>
          <a:prstGeom prst="straightConnector1">
            <a:avLst/>
          </a:prstGeom>
          <a:noFill/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7" name="Google Shape;397;p4"/>
          <p:cNvSpPr txBox="1"/>
          <p:nvPr>
            <p:ph idx="1" type="body"/>
          </p:nvPr>
        </p:nvSpPr>
        <p:spPr>
          <a:xfrm>
            <a:off x="203562" y="1423961"/>
            <a:ext cx="11709764" cy="1304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During a requirements-gathering session for a major new information system, a key user was asked about.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Following are the </a:t>
            </a:r>
            <a:r>
              <a:rPr b="1" lang="en-US">
                <a:solidFill>
                  <a:srgbClr val="C00000"/>
                </a:solidFill>
              </a:rPr>
              <a:t>design principles</a:t>
            </a:r>
            <a:r>
              <a:rPr lang="en-US"/>
              <a:t> that allow the </a:t>
            </a:r>
            <a:r>
              <a:rPr b="1" lang="en-US">
                <a:solidFill>
                  <a:srgbClr val="C00000"/>
                </a:solidFill>
              </a:rPr>
              <a:t>user to maintain control</a:t>
            </a:r>
            <a:r>
              <a:rPr lang="en-US"/>
              <a:t>:</a:t>
            </a:r>
            <a:endParaRPr/>
          </a:p>
          <a:p>
            <a:pPr indent="-1127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1127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98" name="Google Shape;398;p4"/>
          <p:cNvSpPr/>
          <p:nvPr/>
        </p:nvSpPr>
        <p:spPr>
          <a:xfrm>
            <a:off x="340541" y="2881223"/>
            <a:ext cx="11435806" cy="43088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Define interaction modes</a:t>
            </a:r>
            <a:r>
              <a:rPr lang="en-US" sz="2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in a way that </a:t>
            </a:r>
            <a:r>
              <a:rPr b="1" lang="en-US" sz="22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does not force a user</a:t>
            </a:r>
            <a:r>
              <a:rPr lang="en-US" sz="2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into unnecessary or </a:t>
            </a:r>
            <a:r>
              <a:rPr b="1" lang="en-US" sz="22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undesired actions</a:t>
            </a:r>
            <a:r>
              <a:rPr lang="en-US" sz="2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sp>
        <p:nvSpPr>
          <p:cNvPr id="399" name="Google Shape;399;p4"/>
          <p:cNvSpPr/>
          <p:nvPr/>
        </p:nvSpPr>
        <p:spPr>
          <a:xfrm>
            <a:off x="333827" y="3456529"/>
            <a:ext cx="3911648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Provide for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flexible interaction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0" name="Google Shape;400;p4"/>
          <p:cNvSpPr/>
          <p:nvPr/>
        </p:nvSpPr>
        <p:spPr>
          <a:xfrm>
            <a:off x="4366038" y="3456529"/>
            <a:ext cx="7403595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Allow user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interaction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be interruptible and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undoable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sp>
        <p:nvSpPr>
          <p:cNvPr id="401" name="Google Shape;401;p4"/>
          <p:cNvSpPr/>
          <p:nvPr/>
        </p:nvSpPr>
        <p:spPr>
          <a:xfrm>
            <a:off x="333827" y="4062613"/>
            <a:ext cx="8659767" cy="83099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Streamline interaction as skill levels advance and allow the interaction to be customized.</a:t>
            </a:r>
            <a:endParaRPr/>
          </a:p>
        </p:txBody>
      </p:sp>
      <p:sp>
        <p:nvSpPr>
          <p:cNvPr id="402" name="Google Shape;402;p4"/>
          <p:cNvSpPr/>
          <p:nvPr/>
        </p:nvSpPr>
        <p:spPr>
          <a:xfrm>
            <a:off x="340541" y="5038029"/>
            <a:ext cx="8666481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Hide technical internals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from the casual user.</a:t>
            </a:r>
            <a:endParaRPr/>
          </a:p>
        </p:txBody>
      </p:sp>
      <p:sp>
        <p:nvSpPr>
          <p:cNvPr id="403" name="Google Shape;403;p4"/>
          <p:cNvSpPr/>
          <p:nvPr/>
        </p:nvSpPr>
        <p:spPr>
          <a:xfrm>
            <a:off x="327113" y="5644114"/>
            <a:ext cx="8666481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 for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direct interaction with objects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that appear on the screen.</a:t>
            </a:r>
            <a:endParaRPr/>
          </a:p>
        </p:txBody>
      </p:sp>
      <p:pic>
        <p:nvPicPr>
          <p:cNvPr id="404" name="Google Shape;404;p4"/>
          <p:cNvPicPr preferRelativeResize="0"/>
          <p:nvPr/>
        </p:nvPicPr>
        <p:blipFill rotWithShape="1">
          <a:blip r:embed="rId3">
            <a:alphaModFix/>
          </a:blip>
          <a:srcRect b="10180" l="0" r="0" t="0"/>
          <a:stretch/>
        </p:blipFill>
        <p:spPr>
          <a:xfrm>
            <a:off x="10021810" y="4150219"/>
            <a:ext cx="1891516" cy="1763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Golden Rules of User Interface Design Cont.</a:t>
            </a:r>
            <a:endParaRPr/>
          </a:p>
        </p:txBody>
      </p:sp>
      <p:sp>
        <p:nvSpPr>
          <p:cNvPr id="410" name="Google Shape;410;p5"/>
          <p:cNvSpPr/>
          <p:nvPr/>
        </p:nvSpPr>
        <p:spPr>
          <a:xfrm>
            <a:off x="190499" y="859972"/>
            <a:ext cx="4134758" cy="46166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86333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Reduce the User’s Memory Load</a:t>
            </a:r>
            <a:endParaRPr/>
          </a:p>
        </p:txBody>
      </p:sp>
      <p:cxnSp>
        <p:nvCxnSpPr>
          <p:cNvPr id="411" name="Google Shape;411;p5"/>
          <p:cNvCxnSpPr/>
          <p:nvPr/>
        </p:nvCxnSpPr>
        <p:spPr>
          <a:xfrm>
            <a:off x="2330426" y="1321637"/>
            <a:ext cx="9439208" cy="0"/>
          </a:xfrm>
          <a:prstGeom prst="straightConnector1">
            <a:avLst/>
          </a:prstGeom>
          <a:noFill/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2" name="Google Shape;412;p5"/>
          <p:cNvSpPr txBox="1"/>
          <p:nvPr>
            <p:ph idx="1" type="body"/>
          </p:nvPr>
        </p:nvSpPr>
        <p:spPr>
          <a:xfrm>
            <a:off x="203562" y="1423961"/>
            <a:ext cx="11709764" cy="1304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The </a:t>
            </a:r>
            <a:r>
              <a:rPr b="1" lang="en-US">
                <a:solidFill>
                  <a:srgbClr val="C00000"/>
                </a:solidFill>
              </a:rPr>
              <a:t>more a user has to remember, the more error-prone</a:t>
            </a:r>
            <a:r>
              <a:rPr lang="en-US"/>
              <a:t> the interaction with the system will be.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Following are the design principles that enable an interface to reduce the user’s memory load:</a:t>
            </a:r>
            <a:endParaRPr/>
          </a:p>
          <a:p>
            <a:pPr indent="-1127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1127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pic>
        <p:nvPicPr>
          <p:cNvPr id="413" name="Google Shape;413;p5"/>
          <p:cNvPicPr preferRelativeResize="0"/>
          <p:nvPr/>
        </p:nvPicPr>
        <p:blipFill rotWithShape="1">
          <a:blip r:embed="rId3">
            <a:alphaModFix/>
          </a:blip>
          <a:srcRect b="0" l="0" r="16231" t="0"/>
          <a:stretch/>
        </p:blipFill>
        <p:spPr>
          <a:xfrm>
            <a:off x="9938153" y="2873833"/>
            <a:ext cx="2195788" cy="2621269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"/>
          <p:cNvSpPr/>
          <p:nvPr/>
        </p:nvSpPr>
        <p:spPr>
          <a:xfrm>
            <a:off x="378343" y="2904252"/>
            <a:ext cx="9429184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Reduce demand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on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short-term memory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endParaRPr/>
          </a:p>
        </p:txBody>
      </p:sp>
      <p:sp>
        <p:nvSpPr>
          <p:cNvPr id="415" name="Google Shape;415;p5"/>
          <p:cNvSpPr/>
          <p:nvPr/>
        </p:nvSpPr>
        <p:spPr>
          <a:xfrm>
            <a:off x="378343" y="3541482"/>
            <a:ext cx="3833101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Establish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meaningful defaults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6" name="Google Shape;416;p5"/>
          <p:cNvSpPr/>
          <p:nvPr/>
        </p:nvSpPr>
        <p:spPr>
          <a:xfrm>
            <a:off x="4384286" y="3551497"/>
            <a:ext cx="5423241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Define shortcuts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that are intuitive</a:t>
            </a:r>
            <a:endParaRPr/>
          </a:p>
        </p:txBody>
      </p:sp>
      <p:sp>
        <p:nvSpPr>
          <p:cNvPr id="417" name="Google Shape;417;p5"/>
          <p:cNvSpPr/>
          <p:nvPr/>
        </p:nvSpPr>
        <p:spPr>
          <a:xfrm>
            <a:off x="378343" y="4198742"/>
            <a:ext cx="9429184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visual layout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the interface should be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based on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real-world metaphor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8" name="Google Shape;418;p5"/>
          <p:cNvSpPr/>
          <p:nvPr/>
        </p:nvSpPr>
        <p:spPr>
          <a:xfrm>
            <a:off x="378343" y="4835971"/>
            <a:ext cx="9429184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Disclose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information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 a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progressive fashion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Golden Rules of User Interface Design Cont.</a:t>
            </a:r>
            <a:endParaRPr/>
          </a:p>
        </p:txBody>
      </p:sp>
      <p:sp>
        <p:nvSpPr>
          <p:cNvPr id="424" name="Google Shape;424;p6"/>
          <p:cNvSpPr txBox="1"/>
          <p:nvPr>
            <p:ph idx="1" type="body"/>
          </p:nvPr>
        </p:nvSpPr>
        <p:spPr>
          <a:xfrm>
            <a:off x="262359" y="1490402"/>
            <a:ext cx="11929641" cy="1367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The interface should </a:t>
            </a:r>
            <a:r>
              <a:rPr b="1" lang="en-US">
                <a:solidFill>
                  <a:srgbClr val="C00000"/>
                </a:solidFill>
              </a:rPr>
              <a:t>present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and acquire </a:t>
            </a:r>
            <a:r>
              <a:rPr b="1" lang="en-US">
                <a:solidFill>
                  <a:srgbClr val="C00000"/>
                </a:solidFill>
              </a:rPr>
              <a:t>information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/>
              <a:t>in a </a:t>
            </a:r>
            <a:r>
              <a:rPr b="1" lang="en-US">
                <a:solidFill>
                  <a:srgbClr val="C00000"/>
                </a:solidFill>
              </a:rPr>
              <a:t>consistent fashion</a:t>
            </a:r>
            <a:r>
              <a:rPr lang="en-US"/>
              <a:t>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Following are the design principles that help make the interface consistent</a:t>
            </a:r>
            <a:endParaRPr/>
          </a:p>
        </p:txBody>
      </p:sp>
      <p:sp>
        <p:nvSpPr>
          <p:cNvPr id="425" name="Google Shape;425;p6"/>
          <p:cNvSpPr/>
          <p:nvPr/>
        </p:nvSpPr>
        <p:spPr>
          <a:xfrm>
            <a:off x="190499" y="859972"/>
            <a:ext cx="4134758" cy="46166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86333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Make the Interface Consistent</a:t>
            </a:r>
            <a:endParaRPr/>
          </a:p>
        </p:txBody>
      </p:sp>
      <p:cxnSp>
        <p:nvCxnSpPr>
          <p:cNvPr id="426" name="Google Shape;426;p6"/>
          <p:cNvCxnSpPr/>
          <p:nvPr/>
        </p:nvCxnSpPr>
        <p:spPr>
          <a:xfrm>
            <a:off x="2330426" y="1321637"/>
            <a:ext cx="9439208" cy="0"/>
          </a:xfrm>
          <a:prstGeom prst="straightConnector1">
            <a:avLst/>
          </a:prstGeom>
          <a:noFill/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7" name="Google Shape;427;p6"/>
          <p:cNvSpPr/>
          <p:nvPr/>
        </p:nvSpPr>
        <p:spPr>
          <a:xfrm>
            <a:off x="378343" y="2628486"/>
            <a:ext cx="7420182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Maintain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consistency across a family of applications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28" name="Google Shape;428;p6"/>
          <p:cNvSpPr/>
          <p:nvPr/>
        </p:nvSpPr>
        <p:spPr>
          <a:xfrm>
            <a:off x="378343" y="3251872"/>
            <a:ext cx="7420182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If past interactive models have created user expectations,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 not make changes unless there is a compelling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(convincing)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reason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do so</a:t>
            </a:r>
            <a:endParaRPr/>
          </a:p>
        </p:txBody>
      </p:sp>
      <p:pic>
        <p:nvPicPr>
          <p:cNvPr id="429" name="Google Shape;429;p6"/>
          <p:cNvPicPr preferRelativeResize="0"/>
          <p:nvPr/>
        </p:nvPicPr>
        <p:blipFill rotWithShape="1">
          <a:blip r:embed="rId3">
            <a:alphaModFix/>
          </a:blip>
          <a:srcRect b="3656" l="0" r="0" t="34234"/>
          <a:stretch/>
        </p:blipFill>
        <p:spPr>
          <a:xfrm>
            <a:off x="7798525" y="4195293"/>
            <a:ext cx="4114801" cy="2261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"/>
          <p:cNvPicPr preferRelativeResize="0"/>
          <p:nvPr/>
        </p:nvPicPr>
        <p:blipFill rotWithShape="1">
          <a:blip r:embed="rId3">
            <a:alphaModFix/>
          </a:blip>
          <a:srcRect b="66103" l="0" r="0" t="0"/>
          <a:stretch/>
        </p:blipFill>
        <p:spPr>
          <a:xfrm>
            <a:off x="7914637" y="3072448"/>
            <a:ext cx="3743325" cy="1122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600"/>
              <a:buFont typeface="Roboto Condensed"/>
              <a:buNone/>
            </a:pPr>
            <a:r>
              <a:rPr lang="en-US" sz="3600"/>
              <a:t>User Interface Analysis and Design Models</a:t>
            </a:r>
            <a:endParaRPr/>
          </a:p>
        </p:txBody>
      </p:sp>
      <p:sp>
        <p:nvSpPr>
          <p:cNvPr id="436" name="Google Shape;436;p7"/>
          <p:cNvSpPr txBox="1"/>
          <p:nvPr>
            <p:ph idx="1" type="body"/>
          </p:nvPr>
        </p:nvSpPr>
        <p:spPr>
          <a:xfrm>
            <a:off x="131180" y="863445"/>
            <a:ext cx="11929641" cy="47171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b="1" lang="en-US">
                <a:solidFill>
                  <a:srgbClr val="C00000"/>
                </a:solidFill>
              </a:rPr>
              <a:t>User profile model </a:t>
            </a:r>
            <a:r>
              <a:rPr lang="en-US"/>
              <a:t>– Established by a software engineer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Establishes the profile of the end-users of the system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based on age, gender, physical abilities, education, cultural background, motivation, goals, and personality.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b="1" lang="en-US">
                <a:solidFill>
                  <a:srgbClr val="C00000"/>
                </a:solidFill>
              </a:rPr>
              <a:t>Design model </a:t>
            </a:r>
            <a:r>
              <a:rPr lang="en-US"/>
              <a:t>– Created by a software engineer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Derived from the analysis model of the requirements.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Incorporates data, architectural, interface, and procedural representations of the software.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b="1" lang="en-US">
                <a:solidFill>
                  <a:srgbClr val="C00000"/>
                </a:solidFill>
              </a:rPr>
              <a:t>Implementation model</a:t>
            </a:r>
            <a:r>
              <a:rPr lang="en-US"/>
              <a:t> – Created by the software implementers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Consists of the look and feel of the interface combined with all supporting information (books, videos, help files) that describe system syntax and semantics.</a:t>
            </a:r>
            <a:endParaRPr/>
          </a:p>
          <a:p>
            <a:pPr indent="-2651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b="1" lang="en-US">
                <a:solidFill>
                  <a:srgbClr val="C00000"/>
                </a:solidFill>
              </a:rPr>
              <a:t>User's mental model</a:t>
            </a:r>
            <a:r>
              <a:rPr lang="en-US"/>
              <a:t> – Developed by the user when interacting with the application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Often called the user's system perception. </a:t>
            </a:r>
            <a:endParaRPr/>
          </a:p>
          <a:p>
            <a:pPr indent="-352425" lvl="1" marL="809625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⮩"/>
            </a:pPr>
            <a:r>
              <a:rPr lang="en-US"/>
              <a:t>Consists of the image of the system; that users carry in their heads.</a:t>
            </a:r>
            <a:endParaRPr/>
          </a:p>
          <a:p>
            <a:pPr indent="-112713" lvl="0" marL="265113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37" name="Google Shape;437;p7"/>
          <p:cNvSpPr/>
          <p:nvPr/>
        </p:nvSpPr>
        <p:spPr>
          <a:xfrm>
            <a:off x="391886" y="5580586"/>
            <a:ext cx="9927771" cy="830942"/>
          </a:xfrm>
          <a:prstGeom prst="wedgeRoundRectCallout">
            <a:avLst>
              <a:gd fmla="val 54280" name="adj1"/>
              <a:gd fmla="val -6355" name="adj2"/>
              <a:gd fmla="val 16667" name="adj3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role of the interface designer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is to merge these differences and derive a consistent representation of the interface.</a:t>
            </a:r>
            <a:endParaRPr/>
          </a:p>
        </p:txBody>
      </p:sp>
      <p:pic>
        <p:nvPicPr>
          <p:cNvPr id="438" name="Google Shape;4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4341" y="5185070"/>
            <a:ext cx="1226458" cy="1226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Web Application Design	</a:t>
            </a:r>
            <a:endParaRPr/>
          </a:p>
        </p:txBody>
      </p:sp>
      <p:sp>
        <p:nvSpPr>
          <p:cNvPr id="444" name="Google Shape;444;p8"/>
          <p:cNvSpPr txBox="1"/>
          <p:nvPr>
            <p:ph idx="1" type="body"/>
          </p:nvPr>
        </p:nvSpPr>
        <p:spPr>
          <a:xfrm>
            <a:off x="3285948" y="967919"/>
            <a:ext cx="8586738" cy="87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5113" lvl="0" marL="26511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buChar char="🞂"/>
            </a:pPr>
            <a:r>
              <a:rPr lang="en-US"/>
              <a:t>Design for WebApp encompasses technical and nontechnical activities that include: </a:t>
            </a:r>
            <a:endParaRPr/>
          </a:p>
        </p:txBody>
      </p:sp>
      <p:cxnSp>
        <p:nvCxnSpPr>
          <p:cNvPr id="445" name="Google Shape;445;p8"/>
          <p:cNvCxnSpPr/>
          <p:nvPr/>
        </p:nvCxnSpPr>
        <p:spPr>
          <a:xfrm>
            <a:off x="3116945" y="711201"/>
            <a:ext cx="0" cy="589279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446" name="Google Shape;4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941" y="967919"/>
            <a:ext cx="2451064" cy="2451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443" y="3742618"/>
            <a:ext cx="2395125" cy="2395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8"/>
          <p:cNvSpPr/>
          <p:nvPr/>
        </p:nvSpPr>
        <p:spPr>
          <a:xfrm>
            <a:off x="3525518" y="1869199"/>
            <a:ext cx="8347167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Establishing the look and feel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 the WebApp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3525518" y="2436628"/>
            <a:ext cx="8347167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Defining the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overall architectural structure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3525518" y="3004057"/>
            <a:ext cx="8347167" cy="83099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Developing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content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functionality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that reside within the architecture</a:t>
            </a:r>
            <a:endParaRPr/>
          </a:p>
        </p:txBody>
      </p:sp>
      <p:sp>
        <p:nvSpPr>
          <p:cNvPr id="451" name="Google Shape;451;p8"/>
          <p:cNvSpPr/>
          <p:nvPr/>
        </p:nvSpPr>
        <p:spPr>
          <a:xfrm>
            <a:off x="3525518" y="3940818"/>
            <a:ext cx="8347167" cy="4616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Planning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</a:t>
            </a:r>
            <a:r>
              <a:rPr b="1"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navigation</a:t>
            </a:r>
            <a:r>
              <a:rPr lang="en-US" sz="2400">
                <a:solidFill>
                  <a:srgbClr val="C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24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that occurs within the WebApp</a:t>
            </a:r>
            <a:endParaRPr sz="24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452" name="Google Shape;45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01085" y="4508247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753" y="4669396"/>
            <a:ext cx="1163527" cy="1163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30457" y="4618715"/>
            <a:ext cx="2065543" cy="1366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3294" y="4669397"/>
            <a:ext cx="1163527" cy="1163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9"/>
          <p:cNvSpPr txBox="1"/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ctr" bIns="108000" lIns="216000" spcFirstLastPara="1" rIns="216000" wrap="square" tIns="1080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/>
              <a:buNone/>
            </a:pPr>
            <a:r>
              <a:rPr lang="en-US"/>
              <a:t>Designing UI using UX Design</a:t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>
            <a:off x="265043" y="1091507"/>
            <a:ext cx="10959548" cy="4893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 (User Interface)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look &amp; feel – buttons, menus, colors, icons.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UX (User Experience)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overall journey – how easy and satisfying it is for the user.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UX design decides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experience the user should have.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UI design shows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experience looks on screen.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Steps in Designing UI with UX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user needs (research).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wireframes &amp; flow (UX).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visual elements (UI).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usability &amp; improve.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Make software not only attractive (UI) but also meaningful &amp; user-friendly (UX).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Jay">
      <a:dk1>
        <a:srgbClr val="212121"/>
      </a:dk1>
      <a:lt1>
        <a:srgbClr val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2020-05-01T05:09:15Z</dcterms:created>
  <dc:creator>ADMIN</dc:creator>
</cp:coreProperties>
</file>