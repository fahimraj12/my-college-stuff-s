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6858000" cy="9144000"/>
  <p:embeddedFontLst>
    <p:embeddedFont>
      <p:font typeface="Open Sans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27" roundtripDataSignature="AMtx7miQ4hjZRe07kTE8fVDLHr+1lqFS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ExtraBold-boldItalic.fntdata"/><Relationship Id="rId25" Type="http://schemas.openxmlformats.org/officeDocument/2006/relationships/font" Target="fonts/OpenSansExtraBold-bold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" type="body"/>
          </p:nvPr>
        </p:nvSpPr>
        <p:spPr>
          <a:xfrm>
            <a:off x="19050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74650" lvl="1" marL="91440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8300" lvl="2" marL="137160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2"/>
          <p:cNvSpPr/>
          <p:nvPr/>
        </p:nvSpPr>
        <p:spPr>
          <a:xfrm>
            <a:off x="0" y="6477000"/>
            <a:ext cx="40386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Unit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- 1: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Software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Engg.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22"/>
          <p:cNvCxnSpPr/>
          <p:nvPr/>
        </p:nvCxnSpPr>
        <p:spPr>
          <a:xfrm>
            <a:off x="190500" y="914400"/>
            <a:ext cx="87630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22"/>
          <p:cNvSpPr/>
          <p:nvPr/>
        </p:nvSpPr>
        <p:spPr>
          <a:xfrm>
            <a:off x="4648200" y="6477000"/>
            <a:ext cx="4495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Darshan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Institute of Engineering &amp; Technology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2"/>
          <p:cNvSpPr/>
          <p:nvPr/>
        </p:nvSpPr>
        <p:spPr>
          <a:xfrm>
            <a:off x="4038600" y="6477000"/>
            <a:ext cx="609600" cy="381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 ExtraBold"/>
              <a:buNone/>
              <a:defRPr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/>
          <p:nvPr>
            <p:ph idx="1" type="body"/>
          </p:nvPr>
        </p:nvSpPr>
        <p:spPr>
          <a:xfrm>
            <a:off x="190500" y="1066800"/>
            <a:ext cx="4305300" cy="5059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74650" lvl="1" marL="914400" algn="l"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8300" lvl="2" marL="1371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5"/>
          <p:cNvSpPr txBox="1"/>
          <p:nvPr>
            <p:ph idx="2" type="body"/>
          </p:nvPr>
        </p:nvSpPr>
        <p:spPr>
          <a:xfrm>
            <a:off x="4648200" y="1066800"/>
            <a:ext cx="4305300" cy="5059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5"/>
          <p:cNvSpPr/>
          <p:nvPr/>
        </p:nvSpPr>
        <p:spPr>
          <a:xfrm>
            <a:off x="0" y="6477000"/>
            <a:ext cx="40386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Unit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– 2: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 Management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5"/>
          <p:cNvSpPr/>
          <p:nvPr/>
        </p:nvSpPr>
        <p:spPr>
          <a:xfrm>
            <a:off x="4648200" y="6480727"/>
            <a:ext cx="4495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Darshan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Institute of Engineering &amp; Technology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5"/>
          <p:cNvSpPr/>
          <p:nvPr/>
        </p:nvSpPr>
        <p:spPr>
          <a:xfrm>
            <a:off x="4038600" y="6477000"/>
            <a:ext cx="6096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5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5" name="Google Shape;45;p25"/>
          <p:cNvCxnSpPr/>
          <p:nvPr/>
        </p:nvCxnSpPr>
        <p:spPr>
          <a:xfrm>
            <a:off x="190500" y="914400"/>
            <a:ext cx="8763000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9.jpg"/><Relationship Id="rId5" Type="http://schemas.openxmlformats.org/officeDocument/2006/relationships/image" Target="../media/image8.jpg"/><Relationship Id="rId6" Type="http://schemas.openxmlformats.org/officeDocument/2006/relationships/image" Target="../media/image7.jpg"/><Relationship Id="rId7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"/>
          <p:cNvGrpSpPr/>
          <p:nvPr/>
        </p:nvGrpSpPr>
        <p:grpSpPr>
          <a:xfrm>
            <a:off x="0" y="2895600"/>
            <a:ext cx="9158748" cy="3628907"/>
            <a:chOff x="-14748" y="986564"/>
            <a:chExt cx="9158748" cy="3628907"/>
          </a:xfrm>
        </p:grpSpPr>
        <p:sp>
          <p:nvSpPr>
            <p:cNvPr id="91" name="Google Shape;91;p1"/>
            <p:cNvSpPr/>
            <p:nvPr/>
          </p:nvSpPr>
          <p:spPr>
            <a:xfrm>
              <a:off x="5003203" y="1761199"/>
              <a:ext cx="4140797" cy="2622445"/>
            </a:xfrm>
            <a:custGeom>
              <a:rect b="b" l="l" r="r" t="t"/>
              <a:pathLst>
                <a:path extrusionOk="0" h="2622445" w="4140797">
                  <a:moveTo>
                    <a:pt x="1" y="0"/>
                  </a:moveTo>
                  <a:lnTo>
                    <a:pt x="4140797" y="0"/>
                  </a:lnTo>
                  <a:lnTo>
                    <a:pt x="4140797" y="2622445"/>
                  </a:lnTo>
                  <a:lnTo>
                    <a:pt x="0" y="2622445"/>
                  </a:lnTo>
                  <a:lnTo>
                    <a:pt x="1311223" y="1311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53734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0" y="1529371"/>
              <a:ext cx="5743977" cy="3086100"/>
            </a:xfrm>
            <a:prstGeom prst="homePlate">
              <a:avLst>
                <a:gd fmla="val 50000" name="adj"/>
              </a:avLst>
            </a:prstGeom>
            <a:solidFill>
              <a:srgbClr val="953734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2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-14748" y="986564"/>
              <a:ext cx="4014973" cy="1075928"/>
            </a:xfrm>
            <a:prstGeom prst="homePlate">
              <a:avLst>
                <a:gd fmla="val 50000" name="adj"/>
              </a:avLst>
            </a:prstGeom>
            <a:solidFill>
              <a:srgbClr val="953734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2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 txBox="1"/>
            <p:nvPr/>
          </p:nvSpPr>
          <p:spPr>
            <a:xfrm>
              <a:off x="0" y="2134476"/>
              <a:ext cx="5917161" cy="2123658"/>
            </a:xfrm>
            <a:prstGeom prst="rect">
              <a:avLst/>
            </a:prstGeom>
            <a:solidFill>
              <a:srgbClr val="95373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Unit-2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Software Process Models</a:t>
              </a:r>
              <a:endParaRPr/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4652237" y="1529372"/>
              <a:ext cx="1672363" cy="3086099"/>
            </a:xfrm>
            <a:custGeom>
              <a:rect b="b" l="l" r="r" t="t"/>
              <a:pathLst>
                <a:path extrusionOk="0" h="3086099" w="1672363">
                  <a:moveTo>
                    <a:pt x="0" y="0"/>
                  </a:moveTo>
                  <a:lnTo>
                    <a:pt x="129314" y="0"/>
                  </a:lnTo>
                  <a:lnTo>
                    <a:pt x="1672363" y="1543050"/>
                  </a:lnTo>
                  <a:lnTo>
                    <a:pt x="129314" y="3086099"/>
                  </a:lnTo>
                  <a:lnTo>
                    <a:pt x="0" y="3086099"/>
                  </a:lnTo>
                  <a:lnTo>
                    <a:pt x="1543049" y="1543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53734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l" dist="38100">
                <a:srgbClr val="000000">
                  <a:alpha val="2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7849" y="3752871"/>
            <a:ext cx="1904947" cy="206275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 txBox="1"/>
          <p:nvPr/>
        </p:nvSpPr>
        <p:spPr>
          <a:xfrm>
            <a:off x="2007486" y="1090055"/>
            <a:ext cx="4641272" cy="1841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 P Savani University</a:t>
            </a:r>
            <a:br>
              <a:rPr b="1"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School of Engineering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Course Name: Software Engineering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Course Code: SSCS3010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SECTION I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4854"/>
            <a:ext cx="1858392" cy="813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6453" y="15527"/>
            <a:ext cx="2702128" cy="813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strike="noStrike">
                <a:latin typeface="Arial"/>
                <a:ea typeface="Arial"/>
                <a:cs typeface="Arial"/>
                <a:sym typeface="Arial"/>
              </a:rPr>
              <a:t>Process Model – Introduction &amp; Use</a:t>
            </a:r>
            <a:endParaRPr b="1" sz="8000"/>
          </a:p>
        </p:txBody>
      </p:sp>
      <p:sp>
        <p:nvSpPr>
          <p:cNvPr id="105" name="Google Shape;105;p2"/>
          <p:cNvSpPr txBox="1"/>
          <p:nvPr>
            <p:ph idx="1" type="body"/>
          </p:nvPr>
        </p:nvSpPr>
        <p:spPr>
          <a:xfrm>
            <a:off x="19050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The </a:t>
            </a:r>
            <a:r>
              <a:rPr b="1" lang="en-US"/>
              <a:t>process model </a:t>
            </a:r>
            <a:r>
              <a:rPr lang="en-US"/>
              <a:t>is the abstract representation of process.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Also known as </a:t>
            </a:r>
            <a:r>
              <a:rPr b="1" lang="en-US">
                <a:solidFill>
                  <a:srgbClr val="C00000"/>
                </a:solidFill>
              </a:rPr>
              <a:t>Software development life cycle (SDLC) </a:t>
            </a:r>
            <a:r>
              <a:rPr lang="en-US"/>
              <a:t>or Application development life cycle Models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Process models </a:t>
            </a:r>
            <a:r>
              <a:rPr b="1" lang="en-US">
                <a:solidFill>
                  <a:srgbClr val="C00000"/>
                </a:solidFill>
              </a:rPr>
              <a:t>prescribe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a distinct set of </a:t>
            </a:r>
            <a:r>
              <a:rPr b="1" lang="en-US">
                <a:solidFill>
                  <a:srgbClr val="C00000"/>
                </a:solidFill>
              </a:rPr>
              <a:t>activities, actions, tasks and milestones (deliverables)</a:t>
            </a:r>
            <a:r>
              <a:rPr lang="en-US"/>
              <a:t> required to engineer high quality software.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Process </a:t>
            </a:r>
            <a:r>
              <a:rPr b="1" lang="en-US">
                <a:solidFill>
                  <a:srgbClr val="C00000"/>
                </a:solidFill>
              </a:rPr>
              <a:t>models are not perfect, </a:t>
            </a:r>
            <a:r>
              <a:rPr lang="en-US"/>
              <a:t>but </a:t>
            </a:r>
            <a:r>
              <a:rPr b="1" lang="en-US">
                <a:solidFill>
                  <a:srgbClr val="C00000"/>
                </a:solidFill>
              </a:rPr>
              <a:t>provide roadmap</a:t>
            </a:r>
            <a:r>
              <a:rPr lang="en-US"/>
              <a:t> for software engineering work.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Software models provide stability, control and organization to a process that if not managed can easily get out of control.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Software process models are adapted (adjusted) to meet the needs of software engineers and managers for a specific project.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SDLC Phases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2400300" y="1447800"/>
            <a:ext cx="4343400" cy="4343400"/>
          </a:xfrm>
          <a:prstGeom prst="ellipse">
            <a:avLst/>
          </a:prstGeom>
          <a:noFill/>
          <a:ln cap="flat" cmpd="sng" w="190500">
            <a:solidFill>
              <a:srgbClr val="92C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3657600" y="893156"/>
            <a:ext cx="1621444" cy="1621444"/>
          </a:xfrm>
          <a:prstGeom prst="ellipse">
            <a:avLst/>
          </a:prstGeom>
          <a:solidFill>
            <a:schemeClr val="accent5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3636356" y="1485116"/>
            <a:ext cx="16976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Communication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715000" y="2188556"/>
            <a:ext cx="1621444" cy="1621444"/>
          </a:xfrm>
          <a:prstGeom prst="ellipse">
            <a:avLst/>
          </a:prstGeom>
          <a:solidFill>
            <a:schemeClr val="accent5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6019800" y="2780516"/>
            <a:ext cx="10134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007956" y="4572000"/>
            <a:ext cx="1621444" cy="1621444"/>
          </a:xfrm>
          <a:prstGeom prst="ellipse">
            <a:avLst/>
          </a:prstGeom>
          <a:solidFill>
            <a:schemeClr val="accent5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5237946" y="5222575"/>
            <a:ext cx="10935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Modeling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2340956" y="4550756"/>
            <a:ext cx="1621444" cy="1621444"/>
          </a:xfrm>
          <a:prstGeom prst="ellipse">
            <a:avLst/>
          </a:prstGeom>
          <a:solidFill>
            <a:schemeClr val="accent5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2436917" y="5142716"/>
            <a:ext cx="14067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Construction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1655156" y="2188556"/>
            <a:ext cx="1621444" cy="1621444"/>
          </a:xfrm>
          <a:prstGeom prst="ellipse">
            <a:avLst/>
          </a:prstGeom>
          <a:solidFill>
            <a:schemeClr val="accent5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1743079" y="2780516"/>
            <a:ext cx="13610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3938239" y="2590800"/>
            <a:ext cx="123155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SDLC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3574530" y="3307140"/>
            <a:ext cx="191187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Life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Cycle</a:t>
            </a:r>
            <a:endParaRPr/>
          </a:p>
        </p:txBody>
      </p:sp>
      <p:cxnSp>
        <p:nvCxnSpPr>
          <p:cNvPr id="124" name="Google Shape;124;p3"/>
          <p:cNvCxnSpPr/>
          <p:nvPr/>
        </p:nvCxnSpPr>
        <p:spPr>
          <a:xfrm>
            <a:off x="3873844" y="3298686"/>
            <a:ext cx="1364102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Process Models</a:t>
            </a:r>
            <a:endParaRPr/>
          </a:p>
        </p:txBody>
      </p:sp>
      <p:sp>
        <p:nvSpPr>
          <p:cNvPr id="130" name="Google Shape;130;p4"/>
          <p:cNvSpPr txBox="1"/>
          <p:nvPr>
            <p:ph idx="1" type="body"/>
          </p:nvPr>
        </p:nvSpPr>
        <p:spPr>
          <a:xfrm>
            <a:off x="19050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Waterfall Model (Linear Sequential Model)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Incremental Process Model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Prototyping Model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The Spiral Model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Rapid Application Development Model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Agile Model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Waterfall Model</a:t>
            </a:r>
            <a:endParaRPr/>
          </a:p>
        </p:txBody>
      </p:sp>
      <p:grpSp>
        <p:nvGrpSpPr>
          <p:cNvPr id="136" name="Google Shape;136;p5"/>
          <p:cNvGrpSpPr/>
          <p:nvPr/>
        </p:nvGrpSpPr>
        <p:grpSpPr>
          <a:xfrm>
            <a:off x="197126" y="1710411"/>
            <a:ext cx="8749747" cy="3928923"/>
            <a:chOff x="6626" y="719811"/>
            <a:chExt cx="8749747" cy="3928923"/>
          </a:xfrm>
        </p:grpSpPr>
        <p:sp>
          <p:nvSpPr>
            <p:cNvPr id="137" name="Google Shape;137;p5"/>
            <p:cNvSpPr/>
            <p:nvPr/>
          </p:nvSpPr>
          <p:spPr>
            <a:xfrm rot="5400000">
              <a:off x="794721" y="1386738"/>
              <a:ext cx="601637" cy="684943"/>
            </a:xfrm>
            <a:prstGeom prst="bentUpArrow">
              <a:avLst>
                <a:gd fmla="val 32840" name="adj1"/>
                <a:gd fmla="val 25000" name="adj2"/>
                <a:gd fmla="val 35780" name="adj3"/>
              </a:avLst>
            </a:prstGeom>
            <a:solidFill>
              <a:srgbClr val="C0CCE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6626" y="719811"/>
              <a:ext cx="2270199" cy="708929"/>
            </a:xfrm>
            <a:prstGeom prst="roundRect">
              <a:avLst>
                <a:gd fmla="val 1667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5"/>
            <p:cNvSpPr txBox="1"/>
            <p:nvPr/>
          </p:nvSpPr>
          <p:spPr>
            <a:xfrm>
              <a:off x="41239" y="754424"/>
              <a:ext cx="2200973" cy="639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Communication</a:t>
              </a:r>
              <a:endParaRPr/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2271678" y="798614"/>
              <a:ext cx="2643224" cy="572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5"/>
            <p:cNvSpPr txBox="1"/>
            <p:nvPr/>
          </p:nvSpPr>
          <p:spPr>
            <a:xfrm>
              <a:off x="2271678" y="798614"/>
              <a:ext cx="2643224" cy="572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Project initiation, requirements gathering</a:t>
              </a:r>
              <a:endParaRPr/>
            </a:p>
          </p:txBody>
        </p:sp>
        <p:sp>
          <p:nvSpPr>
            <p:cNvPr id="142" name="Google Shape;142;p5"/>
            <p:cNvSpPr/>
            <p:nvPr/>
          </p:nvSpPr>
          <p:spPr>
            <a:xfrm rot="5400000">
              <a:off x="1941354" y="2183100"/>
              <a:ext cx="601637" cy="684943"/>
            </a:xfrm>
            <a:prstGeom prst="bentUpArrow">
              <a:avLst>
                <a:gd fmla="val 32840" name="adj1"/>
                <a:gd fmla="val 25000" name="adj2"/>
                <a:gd fmla="val 35780" name="adj3"/>
              </a:avLst>
            </a:prstGeom>
            <a:solidFill>
              <a:srgbClr val="C0CCE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1395431" y="1516173"/>
              <a:ext cx="1365299" cy="708929"/>
            </a:xfrm>
            <a:prstGeom prst="roundRect">
              <a:avLst>
                <a:gd fmla="val 1667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5"/>
            <p:cNvSpPr txBox="1"/>
            <p:nvPr/>
          </p:nvSpPr>
          <p:spPr>
            <a:xfrm>
              <a:off x="1430044" y="1550786"/>
              <a:ext cx="1296073" cy="639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Planning</a:t>
              </a: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2934688" y="1600201"/>
              <a:ext cx="2695693" cy="572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5"/>
            <p:cNvSpPr txBox="1"/>
            <p:nvPr/>
          </p:nvSpPr>
          <p:spPr>
            <a:xfrm>
              <a:off x="2934688" y="1600201"/>
              <a:ext cx="2695693" cy="572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Estimating, scheduling, tracking</a:t>
              </a: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 rot="5400000">
              <a:off x="3491459" y="2979462"/>
              <a:ext cx="601637" cy="684943"/>
            </a:xfrm>
            <a:prstGeom prst="bentUpArrow">
              <a:avLst>
                <a:gd fmla="val 32840" name="adj1"/>
                <a:gd fmla="val 25000" name="adj2"/>
                <a:gd fmla="val 35780" name="adj3"/>
              </a:avLst>
            </a:prstGeom>
            <a:solidFill>
              <a:srgbClr val="C0CCE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2610205" y="2312535"/>
              <a:ext cx="1642240" cy="708929"/>
            </a:xfrm>
            <a:prstGeom prst="roundRect">
              <a:avLst>
                <a:gd fmla="val 1667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5"/>
            <p:cNvSpPr txBox="1"/>
            <p:nvPr/>
          </p:nvSpPr>
          <p:spPr>
            <a:xfrm>
              <a:off x="2644818" y="2347148"/>
              <a:ext cx="1573014" cy="639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Modeling</a:t>
              </a: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4247578" y="2303911"/>
              <a:ext cx="1939740" cy="572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5"/>
            <p:cNvSpPr txBox="1"/>
            <p:nvPr/>
          </p:nvSpPr>
          <p:spPr>
            <a:xfrm>
              <a:off x="4247578" y="2303911"/>
              <a:ext cx="1939740" cy="572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Analysis, design</a:t>
              </a: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 rot="5400000">
              <a:off x="5056065" y="3775824"/>
              <a:ext cx="601637" cy="684943"/>
            </a:xfrm>
            <a:prstGeom prst="bentUpArrow">
              <a:avLst>
                <a:gd fmla="val 32840" name="adj1"/>
                <a:gd fmla="val 25000" name="adj2"/>
                <a:gd fmla="val 35780" name="adj3"/>
              </a:avLst>
            </a:prstGeom>
            <a:solidFill>
              <a:srgbClr val="C0CCE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4104847" y="3108897"/>
              <a:ext cx="1991060" cy="708929"/>
            </a:xfrm>
            <a:prstGeom prst="roundRect">
              <a:avLst>
                <a:gd fmla="val 1667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5"/>
            <p:cNvSpPr txBox="1"/>
            <p:nvPr/>
          </p:nvSpPr>
          <p:spPr>
            <a:xfrm>
              <a:off x="4139460" y="3143510"/>
              <a:ext cx="1921834" cy="639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Construction</a:t>
              </a: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6125759" y="3176509"/>
              <a:ext cx="1516510" cy="572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5"/>
            <p:cNvSpPr txBox="1"/>
            <p:nvPr/>
          </p:nvSpPr>
          <p:spPr>
            <a:xfrm>
              <a:off x="6125759" y="3176509"/>
              <a:ext cx="1516510" cy="572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Code, test</a:t>
              </a: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5758399" y="3939805"/>
              <a:ext cx="1797453" cy="708929"/>
            </a:xfrm>
            <a:prstGeom prst="roundRect">
              <a:avLst>
                <a:gd fmla="val 1667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5"/>
            <p:cNvSpPr txBox="1"/>
            <p:nvPr/>
          </p:nvSpPr>
          <p:spPr>
            <a:xfrm>
              <a:off x="5793012" y="3974418"/>
              <a:ext cx="1728227" cy="639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r>
                <a:rPr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Deployment</a:t>
              </a: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7596415" y="3972871"/>
              <a:ext cx="1159958" cy="572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5"/>
            <p:cNvSpPr txBox="1"/>
            <p:nvPr/>
          </p:nvSpPr>
          <p:spPr>
            <a:xfrm>
              <a:off x="7596415" y="3972871"/>
              <a:ext cx="1159958" cy="572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Delivery, support, feedback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Waterfall Model cont.</a:t>
            </a:r>
            <a:endParaRPr/>
          </a:p>
        </p:txBody>
      </p:sp>
      <p:sp>
        <p:nvSpPr>
          <p:cNvPr id="166" name="Google Shape;166;p6"/>
          <p:cNvSpPr txBox="1"/>
          <p:nvPr>
            <p:ph idx="1" type="body"/>
          </p:nvPr>
        </p:nvSpPr>
        <p:spPr>
          <a:xfrm>
            <a:off x="19050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When </a:t>
            </a:r>
            <a:r>
              <a:rPr b="1" lang="en-US">
                <a:solidFill>
                  <a:schemeClr val="accent2"/>
                </a:solidFill>
              </a:rPr>
              <a:t>requirements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/>
              <a:t>for a problems are </a:t>
            </a:r>
            <a:r>
              <a:rPr b="1" lang="en-US">
                <a:solidFill>
                  <a:schemeClr val="accent2"/>
                </a:solidFill>
              </a:rPr>
              <a:t>well understood </a:t>
            </a:r>
            <a:r>
              <a:rPr lang="en-US"/>
              <a:t>then this model is used in which </a:t>
            </a:r>
            <a:r>
              <a:rPr b="1" lang="en-US">
                <a:solidFill>
                  <a:schemeClr val="accent2"/>
                </a:solidFill>
              </a:rPr>
              <a:t>work flow </a:t>
            </a:r>
            <a:r>
              <a:rPr lang="en-US"/>
              <a:t>from communication to deployment is </a:t>
            </a:r>
            <a:r>
              <a:rPr b="1" lang="en-US">
                <a:solidFill>
                  <a:schemeClr val="accent2"/>
                </a:solidFill>
              </a:rPr>
              <a:t>linear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This Model also called as the </a:t>
            </a:r>
            <a:r>
              <a:rPr b="1" lang="en-US">
                <a:solidFill>
                  <a:schemeClr val="accent2"/>
                </a:solidFill>
              </a:rPr>
              <a:t>Classic life cycle </a:t>
            </a:r>
            <a:r>
              <a:rPr lang="en-US"/>
              <a:t>or </a:t>
            </a:r>
            <a:r>
              <a:rPr b="1" lang="en-US">
                <a:solidFill>
                  <a:schemeClr val="accent2"/>
                </a:solidFill>
              </a:rPr>
              <a:t>linear sequential model</a:t>
            </a:r>
            <a:r>
              <a:rPr lang="en-US"/>
              <a:t>. 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/>
              <a:t>When to use ?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Requirements are very well known, clear and fixed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Product definition is stable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Technology is understood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There are no ambiguous (unclear) requirements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Ample (sufficient) resources with required expertise are available freely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The project is short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Waterfall Model cont.</a:t>
            </a:r>
            <a:endParaRPr/>
          </a:p>
        </p:txBody>
      </p:sp>
      <p:sp>
        <p:nvSpPr>
          <p:cNvPr id="172" name="Google Shape;172;p7"/>
          <p:cNvSpPr txBox="1"/>
          <p:nvPr>
            <p:ph idx="1" type="body"/>
          </p:nvPr>
        </p:nvSpPr>
        <p:spPr>
          <a:xfrm>
            <a:off x="19050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/>
              <a:t>Advantages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>
                <a:solidFill>
                  <a:schemeClr val="accent2"/>
                </a:solidFill>
              </a:rPr>
              <a:t>Simple to implement</a:t>
            </a:r>
            <a:r>
              <a:rPr lang="en-US"/>
              <a:t> and manage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/>
              <a:t>Drawbacks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>
                <a:solidFill>
                  <a:schemeClr val="accent2"/>
                </a:solidFill>
              </a:rPr>
              <a:t>Unable to accommodate changes </a:t>
            </a:r>
            <a:r>
              <a:rPr lang="en-US"/>
              <a:t>at later stages, that is required in most of the cases.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>
                <a:solidFill>
                  <a:schemeClr val="accent2"/>
                </a:solidFill>
              </a:rPr>
              <a:t>Working version </a:t>
            </a:r>
            <a:r>
              <a:rPr lang="en-US"/>
              <a:t>is </a:t>
            </a:r>
            <a:r>
              <a:rPr b="1" lang="en-US">
                <a:solidFill>
                  <a:schemeClr val="accent2"/>
                </a:solidFill>
              </a:rPr>
              <a:t>not available</a:t>
            </a:r>
            <a:r>
              <a:rPr lang="en-US"/>
              <a:t> during development. Which can lead the development with major mistakes.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>
                <a:solidFill>
                  <a:schemeClr val="accent2"/>
                </a:solidFill>
              </a:rPr>
              <a:t>Deadlock can occur </a:t>
            </a:r>
            <a:r>
              <a:rPr lang="en-US"/>
              <a:t>due to delay in any step.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Not suitable for large projects.</a:t>
            </a:r>
            <a:endParaRPr/>
          </a:p>
          <a:p>
            <a:pPr indent="-1905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Incremental Process Model</a:t>
            </a:r>
            <a:endParaRPr/>
          </a:p>
        </p:txBody>
      </p:sp>
      <p:pic>
        <p:nvPicPr>
          <p:cNvPr id="178" name="Google Shape;1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350775"/>
            <a:ext cx="8610600" cy="497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1" y="1350775"/>
            <a:ext cx="2667000" cy="1826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2" y="4572000"/>
            <a:ext cx="4310570" cy="10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26505" y="3886201"/>
            <a:ext cx="4402341" cy="1077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97255" y="2205680"/>
            <a:ext cx="4229100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Incremental Process Model cont.</a:t>
            </a:r>
            <a:endParaRPr/>
          </a:p>
        </p:txBody>
      </p:sp>
      <p:sp>
        <p:nvSpPr>
          <p:cNvPr id="188" name="Google Shape;188;p9"/>
          <p:cNvSpPr txBox="1"/>
          <p:nvPr>
            <p:ph idx="1" type="body"/>
          </p:nvPr>
        </p:nvSpPr>
        <p:spPr>
          <a:xfrm>
            <a:off x="19050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The incremental model </a:t>
            </a:r>
            <a:r>
              <a:rPr b="1" lang="en-US">
                <a:solidFill>
                  <a:srgbClr val="C00000"/>
                </a:solidFill>
              </a:rPr>
              <a:t>combines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elements of</a:t>
            </a:r>
            <a:r>
              <a:rPr b="1" lang="en-US">
                <a:solidFill>
                  <a:schemeClr val="accent2"/>
                </a:solidFill>
              </a:rPr>
              <a:t> linear</a:t>
            </a:r>
            <a:r>
              <a:rPr lang="en-US"/>
              <a:t> and </a:t>
            </a:r>
            <a:r>
              <a:rPr b="1" lang="en-US">
                <a:solidFill>
                  <a:schemeClr val="accent2"/>
                </a:solidFill>
              </a:rPr>
              <a:t>parallel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/>
              <a:t>process flows.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This model applies linear sequence in a iterative manner.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Initially </a:t>
            </a:r>
            <a:r>
              <a:rPr b="1" lang="en-US">
                <a:solidFill>
                  <a:schemeClr val="accent2"/>
                </a:solidFill>
              </a:rPr>
              <a:t>core working product </a:t>
            </a:r>
            <a:r>
              <a:rPr lang="en-US"/>
              <a:t>is </a:t>
            </a:r>
            <a:r>
              <a:rPr b="1" lang="en-US">
                <a:solidFill>
                  <a:schemeClr val="accent2"/>
                </a:solidFill>
              </a:rPr>
              <a:t>delivered</a:t>
            </a:r>
            <a:r>
              <a:rPr lang="en-US"/>
              <a:t>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>
                <a:solidFill>
                  <a:schemeClr val="accent2"/>
                </a:solidFill>
              </a:rPr>
              <a:t>Each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/>
              <a:t>linear </a:t>
            </a:r>
            <a:r>
              <a:rPr b="1" lang="en-US">
                <a:solidFill>
                  <a:schemeClr val="accent2"/>
                </a:solidFill>
              </a:rPr>
              <a:t>sequence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/>
              <a:t>produces deliverable </a:t>
            </a:r>
            <a:r>
              <a:rPr b="1" lang="en-US">
                <a:solidFill>
                  <a:schemeClr val="accent2"/>
                </a:solidFill>
              </a:rPr>
              <a:t>“increments” </a:t>
            </a:r>
            <a:r>
              <a:rPr lang="en-US"/>
              <a:t>of the software.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For example, word-processing software developed using the incremental model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It might deliver basic file management, editing and document production functions in the first increment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more sophisticated editing in the second increment; 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spelling and grammar checking in the third increment; and 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advanced page layout capability in the fourth increment.</a:t>
            </a:r>
            <a:endParaRPr/>
          </a:p>
          <a:p>
            <a:pPr indent="-1905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Incremental Process Model cont.</a:t>
            </a:r>
            <a:endParaRPr/>
          </a:p>
        </p:txBody>
      </p:sp>
      <p:sp>
        <p:nvSpPr>
          <p:cNvPr id="194" name="Google Shape;194;p10"/>
          <p:cNvSpPr txBox="1"/>
          <p:nvPr>
            <p:ph idx="1" type="body"/>
          </p:nvPr>
        </p:nvSpPr>
        <p:spPr>
          <a:xfrm>
            <a:off x="19050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/>
              <a:t>When to Use ?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When the </a:t>
            </a:r>
            <a:r>
              <a:rPr b="1" lang="en-US">
                <a:solidFill>
                  <a:schemeClr val="accent2"/>
                </a:solidFill>
              </a:rPr>
              <a:t>requirements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/>
              <a:t>of the </a:t>
            </a:r>
            <a:r>
              <a:rPr b="1" lang="en-US">
                <a:solidFill>
                  <a:schemeClr val="accent2"/>
                </a:solidFill>
              </a:rPr>
              <a:t>complete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/>
              <a:t>system are clearly </a:t>
            </a:r>
            <a:r>
              <a:rPr b="1" lang="en-US">
                <a:solidFill>
                  <a:schemeClr val="accent2"/>
                </a:solidFill>
              </a:rPr>
              <a:t>defined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/>
              <a:t>and understood but </a:t>
            </a:r>
            <a:r>
              <a:rPr b="1" lang="en-US">
                <a:solidFill>
                  <a:schemeClr val="accent2"/>
                </a:solidFill>
              </a:rPr>
              <a:t>staffing is unavailable </a:t>
            </a:r>
            <a:r>
              <a:rPr lang="en-US"/>
              <a:t>for a </a:t>
            </a:r>
            <a:r>
              <a:rPr b="1" lang="en-US">
                <a:solidFill>
                  <a:schemeClr val="accent2"/>
                </a:solidFill>
              </a:rPr>
              <a:t>complete implementation</a:t>
            </a:r>
            <a:r>
              <a:rPr lang="en-US"/>
              <a:t> by the business deadline.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/>
              <a:t>Advantages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Generates </a:t>
            </a:r>
            <a:r>
              <a:rPr b="1" lang="en-US">
                <a:solidFill>
                  <a:schemeClr val="accent2"/>
                </a:solidFill>
              </a:rPr>
              <a:t>working software quickly </a:t>
            </a:r>
            <a:r>
              <a:rPr lang="en-US"/>
              <a:t>and early during the software life cycle.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It is </a:t>
            </a:r>
            <a:r>
              <a:rPr b="1" lang="en-US">
                <a:solidFill>
                  <a:schemeClr val="accent2"/>
                </a:solidFill>
              </a:rPr>
              <a:t>easier to test </a:t>
            </a:r>
            <a:r>
              <a:rPr lang="en-US"/>
              <a:t>and debug during a smaller iteration.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>
                <a:solidFill>
                  <a:schemeClr val="accent2"/>
                </a:solidFill>
              </a:rPr>
              <a:t>Customer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/>
              <a:t>can </a:t>
            </a:r>
            <a:r>
              <a:rPr b="1" lang="en-US">
                <a:solidFill>
                  <a:schemeClr val="accent2"/>
                </a:solidFill>
              </a:rPr>
              <a:t>respond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/>
              <a:t>to each built.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>
                <a:solidFill>
                  <a:schemeClr val="accent2"/>
                </a:solidFill>
              </a:rPr>
              <a:t>Lowers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b="1" lang="en-US">
                <a:solidFill>
                  <a:schemeClr val="accent2"/>
                </a:solidFill>
              </a:rPr>
              <a:t>initial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/>
              <a:t>delivery </a:t>
            </a:r>
            <a:r>
              <a:rPr b="1" lang="en-US">
                <a:solidFill>
                  <a:schemeClr val="accent2"/>
                </a:solidFill>
              </a:rPr>
              <a:t>cost</a:t>
            </a:r>
            <a:r>
              <a:rPr lang="en-US"/>
              <a:t>.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>
                <a:solidFill>
                  <a:schemeClr val="accent2"/>
                </a:solidFill>
              </a:rPr>
              <a:t>Easier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/>
              <a:t>to </a:t>
            </a:r>
            <a:r>
              <a:rPr b="1" lang="en-US">
                <a:solidFill>
                  <a:schemeClr val="accent2"/>
                </a:solidFill>
              </a:rPr>
              <a:t>manage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b="1" lang="en-US">
                <a:solidFill>
                  <a:schemeClr val="accent2"/>
                </a:solidFill>
              </a:rPr>
              <a:t>risk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/>
              <a:t>because risky pieces are identified and handled during iteration.</a:t>
            </a:r>
            <a:endParaRPr/>
          </a:p>
          <a:p>
            <a:pPr indent="-1905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1905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Evolutionary Process Models</a:t>
            </a:r>
            <a:endParaRPr/>
          </a:p>
        </p:txBody>
      </p:sp>
      <p:sp>
        <p:nvSpPr>
          <p:cNvPr id="200" name="Google Shape;200;p11"/>
          <p:cNvSpPr txBox="1"/>
          <p:nvPr>
            <p:ph idx="1" type="body"/>
          </p:nvPr>
        </p:nvSpPr>
        <p:spPr>
          <a:xfrm>
            <a:off x="19050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When a set of </a:t>
            </a:r>
            <a:r>
              <a:rPr b="1" lang="en-US">
                <a:solidFill>
                  <a:srgbClr val="C00000"/>
                </a:solidFill>
              </a:rPr>
              <a:t>core product </a:t>
            </a:r>
            <a:r>
              <a:rPr lang="en-US"/>
              <a:t>or system requirements is </a:t>
            </a:r>
            <a:r>
              <a:rPr b="1" lang="en-US">
                <a:solidFill>
                  <a:srgbClr val="C00000"/>
                </a:solidFill>
              </a:rPr>
              <a:t>well understood</a:t>
            </a:r>
            <a:r>
              <a:rPr lang="en-US"/>
              <a:t> but the </a:t>
            </a:r>
            <a:r>
              <a:rPr b="1" lang="en-US">
                <a:solidFill>
                  <a:srgbClr val="C00000"/>
                </a:solidFill>
              </a:rPr>
              <a:t>details of product </a:t>
            </a:r>
            <a:r>
              <a:rPr lang="en-US"/>
              <a:t>or system extensions have </a:t>
            </a:r>
            <a:r>
              <a:rPr b="1" lang="en-US">
                <a:solidFill>
                  <a:srgbClr val="C00000"/>
                </a:solidFill>
              </a:rPr>
              <a:t>yet to be defined</a:t>
            </a:r>
            <a:r>
              <a:rPr lang="en-US"/>
              <a:t>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In this situation there is </a:t>
            </a:r>
            <a:r>
              <a:rPr b="1" lang="en-US"/>
              <a:t>a need of process model </a:t>
            </a:r>
            <a:r>
              <a:rPr lang="en-US"/>
              <a:t>which specially designed to accommodate </a:t>
            </a:r>
            <a:r>
              <a:rPr b="1" lang="en-US">
                <a:solidFill>
                  <a:srgbClr val="C00000"/>
                </a:solidFill>
              </a:rPr>
              <a:t>product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that </a:t>
            </a:r>
            <a:r>
              <a:rPr b="1" lang="en-US">
                <a:solidFill>
                  <a:srgbClr val="C00000"/>
                </a:solidFill>
              </a:rPr>
              <a:t>evolve with time</a:t>
            </a:r>
            <a:r>
              <a:rPr lang="en-US"/>
              <a:t>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>
                <a:solidFill>
                  <a:srgbClr val="C00000"/>
                </a:solidFill>
              </a:rPr>
              <a:t>Evolutionary Process Models </a:t>
            </a:r>
            <a:r>
              <a:rPr lang="en-US"/>
              <a:t>are specially meant for that which produce an increasingly more complete version of the software with each iteration.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Evolutionary Models are </a:t>
            </a:r>
            <a:r>
              <a:rPr b="1" lang="en-US">
                <a:solidFill>
                  <a:srgbClr val="C00000"/>
                </a:solidFill>
              </a:rPr>
              <a:t>iterative</a:t>
            </a:r>
            <a:r>
              <a:rPr lang="en-US"/>
              <a:t>. 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Evolutionary models are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/>
              <a:t>Prototyping Model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/>
              <a:t>Spiral Model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/>
              <a:t>Concurrent Development Model</a:t>
            </a:r>
            <a:endParaRPr/>
          </a:p>
          <a:p>
            <a:pPr indent="-1905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Prototyping model</a:t>
            </a:r>
            <a:endParaRPr/>
          </a:p>
        </p:txBody>
      </p:sp>
      <p:sp>
        <p:nvSpPr>
          <p:cNvPr id="206" name="Google Shape;206;p12"/>
          <p:cNvSpPr txBox="1"/>
          <p:nvPr>
            <p:ph idx="1" type="body"/>
          </p:nvPr>
        </p:nvSpPr>
        <p:spPr>
          <a:xfrm>
            <a:off x="19050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Prototyping model is appropriate when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>
                <a:solidFill>
                  <a:srgbClr val="C00000"/>
                </a:solidFill>
              </a:rPr>
              <a:t>Customers have </a:t>
            </a:r>
            <a:r>
              <a:rPr lang="en-US"/>
              <a:t>general </a:t>
            </a:r>
            <a:r>
              <a:rPr b="1" lang="en-US">
                <a:solidFill>
                  <a:srgbClr val="C00000"/>
                </a:solidFill>
              </a:rPr>
              <a:t>objectives of software</a:t>
            </a:r>
            <a:r>
              <a:rPr lang="en-US"/>
              <a:t> but </a:t>
            </a:r>
            <a:r>
              <a:rPr b="1" lang="en-US">
                <a:solidFill>
                  <a:srgbClr val="C00000"/>
                </a:solidFill>
              </a:rPr>
              <a:t>do not have detailed requirements</a:t>
            </a:r>
            <a:r>
              <a:rPr lang="en-US"/>
              <a:t> for functions &amp; features.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>
                <a:solidFill>
                  <a:srgbClr val="C00000"/>
                </a:solidFill>
              </a:rPr>
              <a:t>Developers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are </a:t>
            </a:r>
            <a:r>
              <a:rPr b="1" lang="en-US">
                <a:solidFill>
                  <a:srgbClr val="C00000"/>
                </a:solidFill>
              </a:rPr>
              <a:t>not sure </a:t>
            </a:r>
            <a:r>
              <a:rPr lang="en-US"/>
              <a:t>about </a:t>
            </a:r>
            <a:r>
              <a:rPr b="1" lang="en-US"/>
              <a:t>efficiency of an algorithm </a:t>
            </a:r>
            <a:r>
              <a:rPr lang="en-US"/>
              <a:t>&amp; </a:t>
            </a:r>
            <a:r>
              <a:rPr b="1" lang="en-US"/>
              <a:t>technical feasibilities</a:t>
            </a:r>
            <a:r>
              <a:rPr lang="en-US"/>
              <a:t>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It serves as a </a:t>
            </a:r>
            <a:r>
              <a:rPr b="1" lang="en-US"/>
              <a:t>mechanism</a:t>
            </a:r>
            <a:r>
              <a:rPr lang="en-US"/>
              <a:t> for </a:t>
            </a:r>
            <a:r>
              <a:rPr b="1" lang="en-US">
                <a:solidFill>
                  <a:srgbClr val="C00000"/>
                </a:solidFill>
              </a:rPr>
              <a:t>identifying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b="1" lang="en-US">
                <a:solidFill>
                  <a:srgbClr val="C00000"/>
                </a:solidFill>
              </a:rPr>
              <a:t>software requirements</a:t>
            </a:r>
            <a:r>
              <a:rPr lang="en-US"/>
              <a:t>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Prototype can be serve as “</a:t>
            </a:r>
            <a:r>
              <a:rPr b="1" lang="en-US">
                <a:solidFill>
                  <a:srgbClr val="C00000"/>
                </a:solidFill>
              </a:rPr>
              <a:t>the first system</a:t>
            </a:r>
            <a:r>
              <a:rPr lang="en-US"/>
              <a:t>”.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Both stakeholders and software engineers like prototyping model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Users get feel for the actual system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Developers get to build something immediately</a:t>
            </a:r>
            <a:endParaRPr/>
          </a:p>
          <a:p>
            <a:pPr indent="-1905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Prototyping model cont.</a:t>
            </a:r>
            <a:endParaRPr/>
          </a:p>
        </p:txBody>
      </p:sp>
      <p:sp>
        <p:nvSpPr>
          <p:cNvPr id="212" name="Google Shape;212;p13"/>
          <p:cNvSpPr/>
          <p:nvPr/>
        </p:nvSpPr>
        <p:spPr>
          <a:xfrm>
            <a:off x="5010878" y="1850617"/>
            <a:ext cx="2308946" cy="511097"/>
          </a:xfrm>
          <a:custGeom>
            <a:rect b="b" l="l" r="r" t="t"/>
            <a:pathLst>
              <a:path extrusionOk="0" h="511097" w="2308946">
                <a:moveTo>
                  <a:pt x="0" y="0"/>
                </a:moveTo>
                <a:lnTo>
                  <a:pt x="2308946" y="0"/>
                </a:lnTo>
                <a:lnTo>
                  <a:pt x="2308946" y="511097"/>
                </a:lnTo>
                <a:lnTo>
                  <a:pt x="0" y="511097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0475" lIns="30475" spcFirstLastPara="1" rIns="30475" wrap="square" tIns="304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</a:t>
            </a:r>
            <a:endParaRPr/>
          </a:p>
        </p:txBody>
      </p:sp>
      <p:sp>
        <p:nvSpPr>
          <p:cNvPr id="213" name="Google Shape;213;p13"/>
          <p:cNvSpPr/>
          <p:nvPr/>
        </p:nvSpPr>
        <p:spPr>
          <a:xfrm>
            <a:off x="2158076" y="1078410"/>
            <a:ext cx="4787267" cy="4787267"/>
          </a:xfrm>
          <a:custGeom>
            <a:rect b="b" l="l" r="r" t="t"/>
            <a:pathLst>
              <a:path extrusionOk="0" h="120000" w="120000">
                <a:moveTo>
                  <a:pt x="107601" y="30808"/>
                </a:moveTo>
                <a:cubicBezTo>
                  <a:pt x="114975" y="42833"/>
                  <a:pt x="117525" y="57202"/>
                  <a:pt x="114739" y="71029"/>
                </a:cubicBezTo>
                <a:lnTo>
                  <a:pt x="118711" y="72220"/>
                </a:lnTo>
                <a:lnTo>
                  <a:pt x="110501" y="75130"/>
                </a:lnTo>
                <a:lnTo>
                  <a:pt x="104761" y="68040"/>
                </a:lnTo>
                <a:lnTo>
                  <a:pt x="108731" y="69230"/>
                </a:lnTo>
                <a:lnTo>
                  <a:pt x="108731" y="69230"/>
                </a:lnTo>
                <a:cubicBezTo>
                  <a:pt x="111026" y="57116"/>
                  <a:pt x="108726" y="44581"/>
                  <a:pt x="102280" y="34071"/>
                </a:cubicBez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3"/>
          <p:cNvSpPr/>
          <p:nvPr/>
        </p:nvSpPr>
        <p:spPr>
          <a:xfrm>
            <a:off x="5667853" y="4081592"/>
            <a:ext cx="1692003" cy="490627"/>
          </a:xfrm>
          <a:custGeom>
            <a:rect b="b" l="l" r="r" t="t"/>
            <a:pathLst>
              <a:path extrusionOk="0" h="490627" w="1692003">
                <a:moveTo>
                  <a:pt x="0" y="0"/>
                </a:moveTo>
                <a:lnTo>
                  <a:pt x="1692003" y="0"/>
                </a:lnTo>
                <a:lnTo>
                  <a:pt x="1692003" y="490627"/>
                </a:lnTo>
                <a:lnTo>
                  <a:pt x="0" y="490627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0475" lIns="30475" spcFirstLastPara="1" rIns="30475" wrap="square" tIns="304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Quick Plan</a:t>
            </a:r>
            <a:endParaRPr/>
          </a:p>
        </p:txBody>
      </p:sp>
      <p:sp>
        <p:nvSpPr>
          <p:cNvPr id="215" name="Google Shape;215;p13"/>
          <p:cNvSpPr/>
          <p:nvPr/>
        </p:nvSpPr>
        <p:spPr>
          <a:xfrm>
            <a:off x="2161657" y="1139418"/>
            <a:ext cx="4787267" cy="4787267"/>
          </a:xfrm>
          <a:custGeom>
            <a:rect b="b" l="l" r="r" t="t"/>
            <a:pathLst>
              <a:path extrusionOk="0" h="120000" w="120000">
                <a:moveTo>
                  <a:pt x="108699" y="87321"/>
                </a:moveTo>
                <a:cubicBezTo>
                  <a:pt x="104560" y="94699"/>
                  <a:pt x="98798" y="101040"/>
                  <a:pt x="91850" y="105865"/>
                </a:cubicBezTo>
                <a:lnTo>
                  <a:pt x="93891" y="109474"/>
                </a:lnTo>
                <a:lnTo>
                  <a:pt x="85953" y="105888"/>
                </a:lnTo>
                <a:lnTo>
                  <a:pt x="86722" y="96798"/>
                </a:lnTo>
                <a:lnTo>
                  <a:pt x="88763" y="100406"/>
                </a:lnTo>
                <a:cubicBezTo>
                  <a:pt x="94725" y="96162"/>
                  <a:pt x="99675" y="90650"/>
                  <a:pt x="103256" y="84267"/>
                </a:cubicBez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"/>
          <p:cNvSpPr/>
          <p:nvPr/>
        </p:nvSpPr>
        <p:spPr>
          <a:xfrm>
            <a:off x="3387033" y="5334667"/>
            <a:ext cx="2213814" cy="725100"/>
          </a:xfrm>
          <a:custGeom>
            <a:rect b="b" l="l" r="r" t="t"/>
            <a:pathLst>
              <a:path extrusionOk="0" h="725100" w="2213814">
                <a:moveTo>
                  <a:pt x="0" y="0"/>
                </a:moveTo>
                <a:lnTo>
                  <a:pt x="2213814" y="0"/>
                </a:lnTo>
                <a:lnTo>
                  <a:pt x="2213814" y="725100"/>
                </a:lnTo>
                <a:lnTo>
                  <a:pt x="0" y="72510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0475" lIns="30475" spcFirstLastPara="1" rIns="30475" wrap="square" tIns="304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Modeling Quick Design</a:t>
            </a:r>
            <a:endParaRPr/>
          </a:p>
        </p:txBody>
      </p:sp>
      <p:sp>
        <p:nvSpPr>
          <p:cNvPr id="217" name="Google Shape;217;p13"/>
          <p:cNvSpPr/>
          <p:nvPr/>
        </p:nvSpPr>
        <p:spPr>
          <a:xfrm>
            <a:off x="2043226" y="1141840"/>
            <a:ext cx="4787267" cy="4787267"/>
          </a:xfrm>
          <a:custGeom>
            <a:rect b="b" l="l" r="r" t="t"/>
            <a:pathLst>
              <a:path extrusionOk="0" h="120000" w="120000">
                <a:moveTo>
                  <a:pt x="32399" y="108540"/>
                </a:moveTo>
                <a:lnTo>
                  <a:pt x="32399" y="108540"/>
                </a:lnTo>
                <a:cubicBezTo>
                  <a:pt x="25291" y="104499"/>
                  <a:pt x="19158" y="98946"/>
                  <a:pt x="14432" y="92274"/>
                </a:cubicBezTo>
                <a:lnTo>
                  <a:pt x="10842" y="94349"/>
                </a:lnTo>
                <a:lnTo>
                  <a:pt x="14355" y="86377"/>
                </a:lnTo>
                <a:lnTo>
                  <a:pt x="23451" y="87062"/>
                </a:lnTo>
                <a:lnTo>
                  <a:pt x="19862" y="89136"/>
                </a:lnTo>
                <a:lnTo>
                  <a:pt x="19862" y="89136"/>
                </a:lnTo>
                <a:cubicBezTo>
                  <a:pt x="24014" y="94855"/>
                  <a:pt x="29340" y="99622"/>
                  <a:pt x="35484" y="103115"/>
                </a:cubicBez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"/>
          <p:cNvSpPr/>
          <p:nvPr/>
        </p:nvSpPr>
        <p:spPr>
          <a:xfrm>
            <a:off x="1443049" y="3810201"/>
            <a:ext cx="1989365" cy="787926"/>
          </a:xfrm>
          <a:custGeom>
            <a:rect b="b" l="l" r="r" t="t"/>
            <a:pathLst>
              <a:path extrusionOk="0" h="787926" w="1989365">
                <a:moveTo>
                  <a:pt x="0" y="0"/>
                </a:moveTo>
                <a:lnTo>
                  <a:pt x="1989365" y="0"/>
                </a:lnTo>
                <a:lnTo>
                  <a:pt x="1989365" y="787926"/>
                </a:lnTo>
                <a:lnTo>
                  <a:pt x="0" y="787926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0475" lIns="30475" spcFirstLastPara="1" rIns="30475" wrap="square" tIns="304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Construction of Prototype</a:t>
            </a:r>
            <a:endParaRPr/>
          </a:p>
        </p:txBody>
      </p:sp>
      <p:sp>
        <p:nvSpPr>
          <p:cNvPr id="219" name="Google Shape;219;p13"/>
          <p:cNvSpPr/>
          <p:nvPr/>
        </p:nvSpPr>
        <p:spPr>
          <a:xfrm>
            <a:off x="2068048" y="1105606"/>
            <a:ext cx="4787267" cy="4787267"/>
          </a:xfrm>
          <a:custGeom>
            <a:rect b="b" l="l" r="r" t="t"/>
            <a:pathLst>
              <a:path extrusionOk="0" h="120000" w="120000">
                <a:moveTo>
                  <a:pt x="4763" y="68175"/>
                </a:moveTo>
                <a:cubicBezTo>
                  <a:pt x="3359" y="58692"/>
                  <a:pt x="4421" y="49007"/>
                  <a:pt x="7845" y="40053"/>
                </a:cubicBezTo>
                <a:lnTo>
                  <a:pt x="4125" y="38221"/>
                </a:lnTo>
                <a:lnTo>
                  <a:pt x="12704" y="36712"/>
                </a:lnTo>
                <a:lnTo>
                  <a:pt x="17190" y="44655"/>
                </a:lnTo>
                <a:lnTo>
                  <a:pt x="13471" y="42823"/>
                </a:lnTo>
                <a:lnTo>
                  <a:pt x="13471" y="42823"/>
                </a:lnTo>
                <a:cubicBezTo>
                  <a:pt x="10590" y="50628"/>
                  <a:pt x="9719" y="59032"/>
                  <a:pt x="10937" y="67262"/>
                </a:cubicBez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"/>
          <p:cNvSpPr/>
          <p:nvPr/>
        </p:nvSpPr>
        <p:spPr>
          <a:xfrm>
            <a:off x="1675858" y="1752602"/>
            <a:ext cx="2317591" cy="808408"/>
          </a:xfrm>
          <a:custGeom>
            <a:rect b="b" l="l" r="r" t="t"/>
            <a:pathLst>
              <a:path extrusionOk="0" h="808408" w="2317591">
                <a:moveTo>
                  <a:pt x="0" y="0"/>
                </a:moveTo>
                <a:lnTo>
                  <a:pt x="2317591" y="0"/>
                </a:lnTo>
                <a:lnTo>
                  <a:pt x="2317591" y="808408"/>
                </a:lnTo>
                <a:lnTo>
                  <a:pt x="0" y="808408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30475" lIns="30475" spcFirstLastPara="1" rIns="30475" wrap="square" tIns="304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 &amp; Feedback</a:t>
            </a:r>
            <a:endParaRPr/>
          </a:p>
        </p:txBody>
      </p:sp>
      <p:sp>
        <p:nvSpPr>
          <p:cNvPr id="221" name="Google Shape;221;p13"/>
          <p:cNvSpPr/>
          <p:nvPr/>
        </p:nvSpPr>
        <p:spPr>
          <a:xfrm>
            <a:off x="2141093" y="1087169"/>
            <a:ext cx="4787267" cy="4787267"/>
          </a:xfrm>
          <a:custGeom>
            <a:rect b="b" l="l" r="r" t="t"/>
            <a:pathLst>
              <a:path extrusionOk="0" h="120000" w="120000">
                <a:moveTo>
                  <a:pt x="27542" y="14564"/>
                </a:moveTo>
                <a:lnTo>
                  <a:pt x="27542" y="14564"/>
                </a:lnTo>
                <a:cubicBezTo>
                  <a:pt x="46678" y="893"/>
                  <a:pt x="72328" y="678"/>
                  <a:pt x="91691" y="14025"/>
                </a:cubicBezTo>
                <a:lnTo>
                  <a:pt x="94349" y="10843"/>
                </a:lnTo>
                <a:lnTo>
                  <a:pt x="93792" y="19536"/>
                </a:lnTo>
                <a:lnTo>
                  <a:pt x="85014" y="22021"/>
                </a:lnTo>
                <a:lnTo>
                  <a:pt x="87671" y="18839"/>
                </a:lnTo>
                <a:lnTo>
                  <a:pt x="87671" y="18839"/>
                </a:lnTo>
                <a:cubicBezTo>
                  <a:pt x="70511" y="7303"/>
                  <a:pt x="47995" y="7623"/>
                  <a:pt x="31170" y="19642"/>
                </a:cubicBez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Prototyping model cont.</a:t>
            </a:r>
            <a:endParaRPr/>
          </a:p>
        </p:txBody>
      </p:sp>
      <p:sp>
        <p:nvSpPr>
          <p:cNvPr id="227" name="Google Shape;227;p14"/>
          <p:cNvSpPr txBox="1"/>
          <p:nvPr>
            <p:ph idx="1" type="body"/>
          </p:nvPr>
        </p:nvSpPr>
        <p:spPr>
          <a:xfrm>
            <a:off x="19050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/>
              <a:t>It works as follow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>
                <a:solidFill>
                  <a:srgbClr val="C00000"/>
                </a:solidFill>
              </a:rPr>
              <a:t>Communicate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with stockholders &amp; </a:t>
            </a:r>
            <a:r>
              <a:rPr b="1" lang="en-US">
                <a:solidFill>
                  <a:srgbClr val="C00000"/>
                </a:solidFill>
              </a:rPr>
              <a:t>define objective </a:t>
            </a:r>
            <a:r>
              <a:rPr lang="en-US"/>
              <a:t>of Software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>
                <a:solidFill>
                  <a:srgbClr val="C00000"/>
                </a:solidFill>
              </a:rPr>
              <a:t>Identify requirements </a:t>
            </a:r>
            <a:r>
              <a:rPr lang="en-US"/>
              <a:t>&amp; design </a:t>
            </a:r>
            <a:r>
              <a:rPr b="1" lang="en-US">
                <a:solidFill>
                  <a:srgbClr val="C00000"/>
                </a:solidFill>
              </a:rPr>
              <a:t>quick plan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>
                <a:solidFill>
                  <a:srgbClr val="C00000"/>
                </a:solidFill>
              </a:rPr>
              <a:t>Model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a quick </a:t>
            </a:r>
            <a:r>
              <a:rPr b="1" lang="en-US">
                <a:solidFill>
                  <a:srgbClr val="C00000"/>
                </a:solidFill>
              </a:rPr>
              <a:t>design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(focuses on visible part of software)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>
                <a:solidFill>
                  <a:srgbClr val="C00000"/>
                </a:solidFill>
              </a:rPr>
              <a:t>Construct Prototype</a:t>
            </a:r>
            <a:r>
              <a:rPr lang="en-US"/>
              <a:t> &amp; deploy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Stakeholders </a:t>
            </a:r>
            <a:r>
              <a:rPr b="1" lang="en-US">
                <a:solidFill>
                  <a:srgbClr val="C00000"/>
                </a:solidFill>
              </a:rPr>
              <a:t>evaluate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this </a:t>
            </a:r>
            <a:r>
              <a:rPr b="1" lang="en-US">
                <a:solidFill>
                  <a:srgbClr val="C00000"/>
                </a:solidFill>
              </a:rPr>
              <a:t>prototype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and provides </a:t>
            </a:r>
            <a:r>
              <a:rPr b="1" lang="en-US">
                <a:solidFill>
                  <a:srgbClr val="C00000"/>
                </a:solidFill>
              </a:rPr>
              <a:t>feedback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Iteration occurs and </a:t>
            </a:r>
            <a:r>
              <a:rPr b="1" lang="en-US">
                <a:solidFill>
                  <a:srgbClr val="C00000"/>
                </a:solidFill>
              </a:rPr>
              <a:t>prototype</a:t>
            </a:r>
            <a:r>
              <a:rPr lang="en-US"/>
              <a:t> is </a:t>
            </a:r>
            <a:r>
              <a:rPr b="1" lang="en-US">
                <a:solidFill>
                  <a:srgbClr val="C00000"/>
                </a:solidFill>
              </a:rPr>
              <a:t>tuned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based on </a:t>
            </a:r>
            <a:r>
              <a:rPr b="1" lang="en-US">
                <a:solidFill>
                  <a:srgbClr val="C00000"/>
                </a:solidFill>
              </a:rPr>
              <a:t>feedback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/>
              <a:t>Problem Areas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/>
              <a:t>Customer demand</a:t>
            </a:r>
            <a:r>
              <a:rPr lang="en-US"/>
              <a:t> that “</a:t>
            </a:r>
            <a:r>
              <a:rPr b="1" lang="en-US">
                <a:solidFill>
                  <a:srgbClr val="C00000"/>
                </a:solidFill>
              </a:rPr>
              <a:t>a few fixes</a:t>
            </a:r>
            <a:r>
              <a:rPr lang="en-US"/>
              <a:t>” be applied to </a:t>
            </a:r>
            <a:r>
              <a:rPr b="1" lang="en-US"/>
              <a:t>make</a:t>
            </a:r>
            <a:r>
              <a:rPr lang="en-US"/>
              <a:t> the </a:t>
            </a:r>
            <a:r>
              <a:rPr b="1" lang="en-US"/>
              <a:t>prototype a working product</a:t>
            </a:r>
            <a:r>
              <a:rPr lang="en-US"/>
              <a:t>, due to that software quality suffers as a result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>
                <a:solidFill>
                  <a:srgbClr val="C00000"/>
                </a:solidFill>
              </a:rPr>
              <a:t>Developer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often makes </a:t>
            </a:r>
            <a:r>
              <a:rPr b="1" lang="en-US">
                <a:solidFill>
                  <a:srgbClr val="C00000"/>
                </a:solidFill>
              </a:rPr>
              <a:t>implementation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in order to get a prototype working quickly; </a:t>
            </a:r>
            <a:r>
              <a:rPr b="1" lang="en-US">
                <a:solidFill>
                  <a:srgbClr val="C00000"/>
                </a:solidFill>
              </a:rPr>
              <a:t>without considering other factors</a:t>
            </a:r>
            <a:r>
              <a:rPr lang="en-US"/>
              <a:t> in mind like OS, Programming language, etc.</a:t>
            </a:r>
            <a:endParaRPr/>
          </a:p>
          <a:p>
            <a:pPr indent="-1905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1905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Prototyping model cont.</a:t>
            </a:r>
            <a:endParaRPr/>
          </a:p>
        </p:txBody>
      </p:sp>
      <p:sp>
        <p:nvSpPr>
          <p:cNvPr id="233" name="Google Shape;233;p15"/>
          <p:cNvSpPr txBox="1"/>
          <p:nvPr>
            <p:ph idx="1" type="body"/>
          </p:nvPr>
        </p:nvSpPr>
        <p:spPr>
          <a:xfrm>
            <a:off x="19050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/>
              <a:t>Advantages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>
                <a:solidFill>
                  <a:srgbClr val="C00000"/>
                </a:solidFill>
              </a:rPr>
              <a:t>Users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are actively </a:t>
            </a:r>
            <a:r>
              <a:rPr b="1" lang="en-US">
                <a:solidFill>
                  <a:srgbClr val="C00000"/>
                </a:solidFill>
              </a:rPr>
              <a:t>involved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in the </a:t>
            </a:r>
            <a:r>
              <a:rPr b="1" lang="en-US">
                <a:solidFill>
                  <a:srgbClr val="C00000"/>
                </a:solidFill>
              </a:rPr>
              <a:t>development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Since in this methodology a working model of the system is provided, the </a:t>
            </a:r>
            <a:r>
              <a:rPr b="1" lang="en-US">
                <a:solidFill>
                  <a:srgbClr val="C00000"/>
                </a:solidFill>
              </a:rPr>
              <a:t>users get a better understanding</a:t>
            </a:r>
            <a:r>
              <a:rPr lang="en-US"/>
              <a:t> of the </a:t>
            </a:r>
            <a:r>
              <a:rPr b="1" lang="en-US">
                <a:solidFill>
                  <a:srgbClr val="C00000"/>
                </a:solidFill>
              </a:rPr>
              <a:t>system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being developed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>
                <a:solidFill>
                  <a:srgbClr val="C00000"/>
                </a:solidFill>
              </a:rPr>
              <a:t>Errors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can be </a:t>
            </a:r>
            <a:r>
              <a:rPr b="1" lang="en-US">
                <a:solidFill>
                  <a:srgbClr val="C00000"/>
                </a:solidFill>
              </a:rPr>
              <a:t>detected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much </a:t>
            </a:r>
            <a:r>
              <a:rPr b="1" lang="en-US">
                <a:solidFill>
                  <a:srgbClr val="C00000"/>
                </a:solidFill>
              </a:rPr>
              <a:t>earlier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Spiral Model</a:t>
            </a:r>
            <a:endParaRPr/>
          </a:p>
        </p:txBody>
      </p:sp>
      <p:pic>
        <p:nvPicPr>
          <p:cNvPr id="239" name="Google Shape;2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733" y="1371600"/>
            <a:ext cx="6958533" cy="4608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Spiral Model cont.</a:t>
            </a:r>
            <a:endParaRPr/>
          </a:p>
        </p:txBody>
      </p:sp>
      <p:sp>
        <p:nvSpPr>
          <p:cNvPr id="245" name="Google Shape;245;p17"/>
          <p:cNvSpPr txBox="1"/>
          <p:nvPr>
            <p:ph idx="1" type="body"/>
          </p:nvPr>
        </p:nvSpPr>
        <p:spPr>
          <a:xfrm>
            <a:off x="19050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The Spiral model is an </a:t>
            </a:r>
            <a:r>
              <a:rPr b="1" lang="en-US"/>
              <a:t>evolutionary process model </a:t>
            </a:r>
            <a:r>
              <a:rPr lang="en-US"/>
              <a:t>that couples </a:t>
            </a:r>
            <a:r>
              <a:rPr b="1" lang="en-US">
                <a:solidFill>
                  <a:srgbClr val="C00000"/>
                </a:solidFill>
              </a:rPr>
              <a:t>iterative nature of prototyping </a:t>
            </a:r>
            <a:r>
              <a:rPr lang="en-US"/>
              <a:t>with the </a:t>
            </a:r>
            <a:r>
              <a:rPr b="1" lang="en-US">
                <a:solidFill>
                  <a:srgbClr val="C00000"/>
                </a:solidFill>
              </a:rPr>
              <a:t>controlled and systematic aspects of waterfall</a:t>
            </a:r>
            <a:r>
              <a:rPr lang="en-US"/>
              <a:t> model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It provides the </a:t>
            </a:r>
            <a:r>
              <a:rPr b="1" lang="en-US">
                <a:solidFill>
                  <a:srgbClr val="C00000"/>
                </a:solidFill>
              </a:rPr>
              <a:t>potential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for </a:t>
            </a:r>
            <a:r>
              <a:rPr b="1" lang="en-US">
                <a:solidFill>
                  <a:srgbClr val="C00000"/>
                </a:solidFill>
              </a:rPr>
              <a:t>rapid development</a:t>
            </a:r>
            <a:r>
              <a:rPr lang="en-US"/>
              <a:t>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Software is developed in a series of evolutionary releases.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>
                <a:solidFill>
                  <a:srgbClr val="C00000"/>
                </a:solidFill>
              </a:rPr>
              <a:t>Early iteration </a:t>
            </a:r>
            <a:r>
              <a:rPr lang="en-US"/>
              <a:t>release might be </a:t>
            </a:r>
            <a:r>
              <a:rPr b="1" lang="en-US">
                <a:solidFill>
                  <a:srgbClr val="C00000"/>
                </a:solidFill>
              </a:rPr>
              <a:t>prototype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but </a:t>
            </a:r>
            <a:r>
              <a:rPr b="1" lang="en-US">
                <a:solidFill>
                  <a:srgbClr val="C00000"/>
                </a:solidFill>
              </a:rPr>
              <a:t>later iterations</a:t>
            </a:r>
            <a:r>
              <a:rPr lang="en-US"/>
              <a:t> provides more </a:t>
            </a:r>
            <a:r>
              <a:rPr b="1" lang="en-US">
                <a:solidFill>
                  <a:srgbClr val="C00000"/>
                </a:solidFill>
              </a:rPr>
              <a:t>complete version of software</a:t>
            </a:r>
            <a:r>
              <a:rPr lang="en-US"/>
              <a:t>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It is divided into framework activities (C,P,M,C,D). Each activity represent one segment of the spiral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>
                <a:solidFill>
                  <a:srgbClr val="C00000"/>
                </a:solidFill>
              </a:rPr>
              <a:t>Each pass</a:t>
            </a:r>
            <a:r>
              <a:rPr lang="en-US"/>
              <a:t> through the </a:t>
            </a:r>
            <a:r>
              <a:rPr b="1" lang="en-US">
                <a:solidFill>
                  <a:srgbClr val="C00000"/>
                </a:solidFill>
              </a:rPr>
              <a:t>planning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region results in  </a:t>
            </a:r>
            <a:r>
              <a:rPr b="1" lang="en-US">
                <a:solidFill>
                  <a:srgbClr val="C00000"/>
                </a:solidFill>
              </a:rPr>
              <a:t>adjustments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to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the </a:t>
            </a:r>
            <a:r>
              <a:rPr b="1" lang="en-US"/>
              <a:t>project plan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/>
              <a:t>Cost</a:t>
            </a:r>
            <a:r>
              <a:rPr lang="en-US"/>
              <a:t> &amp; </a:t>
            </a:r>
            <a:r>
              <a:rPr b="1" lang="en-US"/>
              <a:t>schedule </a:t>
            </a:r>
            <a:r>
              <a:rPr lang="en-US"/>
              <a:t>based on feedback</a:t>
            </a:r>
            <a:endParaRPr/>
          </a:p>
          <a:p>
            <a:pPr indent="-1905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Spiral Model cont.</a:t>
            </a:r>
            <a:endParaRPr/>
          </a:p>
        </p:txBody>
      </p:sp>
      <p:sp>
        <p:nvSpPr>
          <p:cNvPr id="251" name="Google Shape;251;p18"/>
          <p:cNvSpPr txBox="1"/>
          <p:nvPr>
            <p:ph idx="1" type="body"/>
          </p:nvPr>
        </p:nvSpPr>
        <p:spPr>
          <a:xfrm>
            <a:off x="19050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/>
              <a:t>When to use Spiral Model?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For development of </a:t>
            </a:r>
            <a:r>
              <a:rPr b="1" lang="en-US">
                <a:solidFill>
                  <a:srgbClr val="C00000"/>
                </a:solidFill>
              </a:rPr>
              <a:t>large scale /  high-risk projects</a:t>
            </a:r>
            <a:r>
              <a:rPr lang="en-US"/>
              <a:t>.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When costs and </a:t>
            </a:r>
            <a:r>
              <a:rPr b="1" lang="en-US">
                <a:solidFill>
                  <a:srgbClr val="C00000"/>
                </a:solidFill>
              </a:rPr>
              <a:t>risk evaluation is important</a:t>
            </a:r>
            <a:r>
              <a:rPr lang="en-US"/>
              <a:t>.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Users are </a:t>
            </a:r>
            <a:r>
              <a:rPr b="1" lang="en-US">
                <a:solidFill>
                  <a:srgbClr val="C00000"/>
                </a:solidFill>
              </a:rPr>
              <a:t>unsure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of their </a:t>
            </a:r>
            <a:r>
              <a:rPr b="1" lang="en-US">
                <a:solidFill>
                  <a:srgbClr val="C00000"/>
                </a:solidFill>
              </a:rPr>
              <a:t>needs</a:t>
            </a:r>
            <a:r>
              <a:rPr lang="en-US"/>
              <a:t>.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>
                <a:solidFill>
                  <a:srgbClr val="C00000"/>
                </a:solidFill>
              </a:rPr>
              <a:t>Requirements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are </a:t>
            </a:r>
            <a:r>
              <a:rPr b="1" lang="en-US">
                <a:solidFill>
                  <a:srgbClr val="C00000"/>
                </a:solidFill>
              </a:rPr>
              <a:t>complex</a:t>
            </a:r>
            <a:r>
              <a:rPr lang="en-US"/>
              <a:t>.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New product line.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Significant (</a:t>
            </a:r>
            <a:r>
              <a:rPr b="1" lang="en-US">
                <a:solidFill>
                  <a:srgbClr val="C00000"/>
                </a:solidFill>
              </a:rPr>
              <a:t>considerable</a:t>
            </a:r>
            <a:r>
              <a:rPr lang="en-US"/>
              <a:t>) </a:t>
            </a:r>
            <a:r>
              <a:rPr b="1" lang="en-US">
                <a:solidFill>
                  <a:srgbClr val="C00000"/>
                </a:solidFill>
              </a:rPr>
              <a:t>changes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are expected.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/>
              <a:t>Advantages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High amount of risk analysis hence, </a:t>
            </a:r>
            <a:r>
              <a:rPr b="1" lang="en-US">
                <a:solidFill>
                  <a:srgbClr val="C00000"/>
                </a:solidFill>
              </a:rPr>
              <a:t>avoidance of Risk</a:t>
            </a:r>
            <a:r>
              <a:rPr lang="en-US"/>
              <a:t> is enhanced.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/>
              <a:t>Strong</a:t>
            </a:r>
            <a:r>
              <a:rPr lang="en-US"/>
              <a:t> </a:t>
            </a:r>
            <a:r>
              <a:rPr b="1" lang="en-US">
                <a:solidFill>
                  <a:srgbClr val="C00000"/>
                </a:solidFill>
              </a:rPr>
              <a:t>approval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and </a:t>
            </a:r>
            <a:r>
              <a:rPr b="1" lang="en-US">
                <a:solidFill>
                  <a:srgbClr val="C00000"/>
                </a:solidFill>
              </a:rPr>
              <a:t>documentation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control.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>
                <a:solidFill>
                  <a:srgbClr val="C00000"/>
                </a:solidFill>
              </a:rPr>
              <a:t>Additional functionality </a:t>
            </a:r>
            <a:r>
              <a:rPr lang="en-US"/>
              <a:t>can be </a:t>
            </a:r>
            <a:r>
              <a:rPr b="1" lang="en-US">
                <a:solidFill>
                  <a:srgbClr val="C00000"/>
                </a:solidFill>
              </a:rPr>
              <a:t>added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at a later date.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b="1" lang="en-US">
                <a:solidFill>
                  <a:srgbClr val="C00000"/>
                </a:solidFill>
              </a:rPr>
              <a:t>Software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is </a:t>
            </a:r>
            <a:r>
              <a:rPr b="1" lang="en-US">
                <a:solidFill>
                  <a:srgbClr val="C00000"/>
                </a:solidFill>
              </a:rPr>
              <a:t>produced early </a:t>
            </a:r>
            <a:r>
              <a:rPr lang="en-US"/>
              <a:t>in the Software Life Cycle.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"/>
          <p:cNvSpPr txBox="1"/>
          <p:nvPr>
            <p:ph type="title"/>
          </p:nvPr>
        </p:nvSpPr>
        <p:spPr>
          <a:xfrm>
            <a:off x="190500" y="106363"/>
            <a:ext cx="87630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Spiral Model cont.</a:t>
            </a:r>
            <a:endParaRPr/>
          </a:p>
        </p:txBody>
      </p:sp>
      <p:sp>
        <p:nvSpPr>
          <p:cNvPr id="257" name="Google Shape;257;p19"/>
          <p:cNvSpPr txBox="1"/>
          <p:nvPr>
            <p:ph idx="1" type="body"/>
          </p:nvPr>
        </p:nvSpPr>
        <p:spPr>
          <a:xfrm>
            <a:off x="190500" y="990600"/>
            <a:ext cx="87630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/>
              <a:t>Disadvantages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Can be </a:t>
            </a:r>
            <a:r>
              <a:rPr b="1" lang="en-US">
                <a:solidFill>
                  <a:srgbClr val="C00000"/>
                </a:solidFill>
              </a:rPr>
              <a:t>a costly model</a:t>
            </a:r>
            <a:r>
              <a:rPr lang="en-US"/>
              <a:t> to use.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Risk analysis </a:t>
            </a:r>
            <a:r>
              <a:rPr b="1" lang="en-US">
                <a:solidFill>
                  <a:srgbClr val="C00000"/>
                </a:solidFill>
              </a:rPr>
              <a:t>requires highly specific expertise</a:t>
            </a:r>
            <a:r>
              <a:rPr lang="en-US"/>
              <a:t>.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Project’s success is highly dependent on the risk analysis phase.</a:t>
            </a:r>
            <a:endParaRPr/>
          </a:p>
          <a:p>
            <a:pPr indent="-342900" lvl="1" marL="70485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en-US"/>
              <a:t>Doesn’t work well for smaller projects.</a:t>
            </a:r>
            <a:endParaRPr/>
          </a:p>
          <a:p>
            <a:pPr indent="-190500" lvl="0" marL="34290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2013-05-17T03:00:03Z</dcterms:created>
  <dc:creator>Darshan Institute of Engg. &amp; Tech.</dc:creator>
</cp:coreProperties>
</file>